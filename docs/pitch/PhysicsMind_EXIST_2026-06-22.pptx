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“I just finished my degree at Dresden International University. I'm building a deep-tech education company and I'd like to understand whether and how EXIST can support it.”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“The real gap isn't content — it's access to a teacher who makes it click and corrects how you think.”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open the real simulation on your laptop. The moving, correct physics does more than any slide. Tap the mic and ask it a 'what if' to show the AI professor driving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“The innovation is the architecture and the data — that's what makes it defensible, not a feature anyone can clone.” This is the EXIST-critical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“We sell directly to students. We're not dependent on schools or institutions.”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“One curriculum, sequenced markets. We build where our expertise is, monetize first where families pay, expand deliberately.”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honestly: “Pre-revenue today — the next step is a teacher-supervised student pilot. That's exactly what the EXIST year would fund.”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“I'd love your guidance on these — that's really why I'm here.” Let the conversation open up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3961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50">
                <a:solidFill>
                  <a:srgbClr val="E07A42"/>
                </a:solidFill>
                <a:latin typeface="Georgia"/>
              </a:rPr>
              <a:t>Physics</a:t>
            </a:r>
            <a:r>
              <a:rPr b="1" sz="1250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b="0" sz="1100">
                <a:solidFill>
                  <a:srgbClr val="8C7C69"/>
                </a:solidFill>
                <a:latin typeface="Segoe UI"/>
              </a:rPr>
              <a:t>1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 spc="280">
                <a:solidFill>
                  <a:srgbClr val="E07A42"/>
                </a:solidFill>
                <a:latin typeface="Segoe UI"/>
              </a:rPr>
              <a:t>DEEP-TECH EDUCATION · DRESDEN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38528"/>
            <a:ext cx="896112" cy="896112"/>
          </a:xfrm>
          <a:prstGeom prst="round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249424"/>
            <a:ext cx="749808" cy="274320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3600000">
            <a:off x="896112" y="2249424"/>
            <a:ext cx="749808" cy="274320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7200000">
            <a:off x="896112" y="2249424"/>
            <a:ext cx="749808" cy="274320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02436" y="2318004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1952" y="1847088"/>
            <a:ext cx="822960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5200">
                <a:solidFill>
                  <a:srgbClr val="F4ECE1"/>
                </a:solidFill>
                <a:latin typeface="Georgia"/>
              </a:rPr>
              <a:t>Physics</a:t>
            </a:r>
            <a:r>
              <a:rPr b="1" sz="5200">
                <a:solidFill>
                  <a:srgbClr val="E07A42"/>
                </a:solidFill>
                <a:latin typeface="Georgia"/>
              </a:rPr>
              <a:t>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24612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2300" i="1">
                <a:solidFill>
                  <a:srgbClr val="BCAB95"/>
                </a:solidFill>
                <a:latin typeface="Georgia"/>
              </a:rPr>
              <a:t>A personal science tutor for every student who doesn’t have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7083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b="1" sz="1500">
                <a:solidFill>
                  <a:srgbClr val="F4ECE1"/>
                </a:solidFill>
                <a:latin typeface="Segoe UI"/>
              </a:rPr>
              <a:t>Pradeep Nagapuri</a:t>
            </a:r>
            <a:r>
              <a:rPr b="0" sz="1500">
                <a:solidFill>
                  <a:srgbClr val="BCAB95"/>
                </a:solidFill>
                <a:latin typeface="Segoe UI"/>
              </a:rPr>
              <a:t>  —  Graduate, Dresden International University (2026)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b="0" sz="1500">
                <a:solidFill>
                  <a:srgbClr val="BCAB95"/>
                </a:solidFill>
                <a:latin typeface="Segoe UI"/>
              </a:rPr>
              <a:t>Deep-tech education startup  ·  built in Dresden, Germany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468112"/>
            <a:ext cx="4617720" cy="457200"/>
          </a:xfrm>
          <a:prstGeom prst="roundRect">
            <a:avLst/>
          </a:prstGeom>
          <a:noFill/>
          <a:ln w="15875">
            <a:solidFill>
              <a:srgbClr val="E07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27432" bIns="27432"/>
          <a:lstStyle/>
          <a:p>
            <a:pPr algn="ctr"/>
            <a:r>
              <a:rPr b="1" sz="1100" spc="180">
                <a:solidFill>
                  <a:srgbClr val="E07A42"/>
                </a:solidFill>
                <a:latin typeface="Segoe UI"/>
              </a:rPr>
              <a:t>APPLYING FOR EXIST-GRÜNDERSTIPENDIUM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50">
                <a:solidFill>
                  <a:srgbClr val="E07A42"/>
                </a:solidFill>
                <a:latin typeface="Georgia"/>
              </a:rPr>
              <a:t>Physics</a:t>
            </a:r>
            <a:r>
              <a:rPr b="1" sz="1250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b="0" sz="1100">
                <a:solidFill>
                  <a:srgbClr val="8C7C69"/>
                </a:solidFill>
                <a:latin typeface="Segoe UI"/>
              </a:rPr>
              <a:t>2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 spc="280">
                <a:solidFill>
                  <a:srgbClr val="E07A42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b="1" sz="3000">
                <a:solidFill>
                  <a:srgbClr val="F4ECE1"/>
                </a:solidFill>
                <a:latin typeface="Georgia"/>
              </a:rPr>
              <a:t>Understanding science shouldn’t depend on affording a great teacher.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A great personal tutor is the biggest advantage in learning — and the rarest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Video and text don’t make abstract concepts </a:t>
            </a:r>
            <a:r>
              <a:rPr b="1" sz="1650">
                <a:solidFill>
                  <a:srgbClr val="FFFFFF"/>
                </a:solidFill>
                <a:latin typeface="Segoe UI"/>
              </a:rPr>
              <a:t>click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Students memorise formulas; </a:t>
            </a:r>
            <a:r>
              <a:rPr b="1" sz="1650">
                <a:solidFill>
                  <a:srgbClr val="FFFFFF"/>
                </a:solidFill>
                <a:latin typeface="Segoe UI"/>
              </a:rPr>
              <a:t>misconceptions go uncorrected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1-to-1 tutoring is expensive and </a:t>
            </a:r>
            <a:r>
              <a:rPr b="1" sz="1650">
                <a:solidFill>
                  <a:srgbClr val="FFFFFF"/>
                </a:solidFill>
                <a:latin typeface="Segoe UI"/>
              </a:rPr>
              <a:t>doesn’t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1885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50">
                <a:solidFill>
                  <a:srgbClr val="E07A42"/>
                </a:solidFill>
                <a:latin typeface="Georgia"/>
              </a:rPr>
              <a:t>Physics</a:t>
            </a:r>
            <a:r>
              <a:rPr b="1" sz="1250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b="0" sz="1100">
                <a:solidFill>
                  <a:srgbClr val="8C7C69"/>
                </a:solidFill>
                <a:latin typeface="Segoe UI"/>
              </a:rPr>
              <a:t>3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 spc="280">
                <a:solidFill>
                  <a:srgbClr val="E07A42"/>
                </a:solidFill>
                <a:latin typeface="Segoe UI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5669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b="1" sz="3400">
                <a:solidFill>
                  <a:srgbClr val="F4ECE1"/>
                </a:solidFill>
                <a:latin typeface="Georgia"/>
              </a:rPr>
              <a:t>We make the concept move.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54864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0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00">
                <a:solidFill>
                  <a:srgbClr val="ECE3D6"/>
                </a:solidFill>
                <a:latin typeface="Segoe UI"/>
              </a:rPr>
              <a:t>Physics-accurate, </a:t>
            </a:r>
            <a:r>
              <a:rPr b="1" sz="1600">
                <a:solidFill>
                  <a:srgbClr val="FFFFFF"/>
                </a:solidFill>
                <a:latin typeface="Segoe UI"/>
              </a:rPr>
              <a:t>interactive simulations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0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00">
                <a:solidFill>
                  <a:srgbClr val="ECE3D6"/>
                </a:solidFill>
                <a:latin typeface="Segoe UI"/>
              </a:rPr>
              <a:t>An </a:t>
            </a:r>
            <a:r>
              <a:rPr b="1" sz="1600">
                <a:solidFill>
                  <a:srgbClr val="FFFFFF"/>
                </a:solidFill>
                <a:latin typeface="Segoe UI"/>
              </a:rPr>
              <a:t>AI professor</a:t>
            </a:r>
            <a:r>
              <a:rPr b="0" sz="1600">
                <a:solidFill>
                  <a:srgbClr val="ECE3D6"/>
                </a:solidFill>
                <a:latin typeface="Segoe UI"/>
              </a:rPr>
              <a:t> that explains and drives the simulation live, by voice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00">
                <a:solidFill>
                  <a:srgbClr val="E07A42"/>
                </a:solidFill>
                <a:latin typeface="Segoe UI"/>
              </a:rPr>
              <a:t>◆   </a:t>
            </a:r>
            <a:r>
              <a:rPr b="1" sz="1600">
                <a:solidFill>
                  <a:srgbClr val="FFFFFF"/>
                </a:solidFill>
                <a:latin typeface="Segoe UI"/>
              </a:rPr>
              <a:t>“ChatGPT tells you — PhysicsMind shows you”</a:t>
            </a:r>
          </a:p>
        </p:txBody>
      </p:sp>
      <p:pic>
        <p:nvPicPr>
          <p:cNvPr id="8" name="Picture 7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1600200"/>
            <a:ext cx="5074920" cy="2367043"/>
          </a:xfrm>
          <a:prstGeom prst="rect">
            <a:avLst/>
          </a:prstGeom>
          <a:ln w="19050">
            <a:solidFill>
              <a:srgbClr val="E07A4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339535" y="4040395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b="0" sz="1100">
                <a:solidFill>
                  <a:srgbClr val="8C7C69"/>
                </a:solidFill>
                <a:latin typeface="Segoe UI"/>
              </a:rPr>
              <a:t>Live product — Lorentz force, with the voice AI professor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50">
                <a:solidFill>
                  <a:srgbClr val="E07A42"/>
                </a:solidFill>
                <a:latin typeface="Georgia"/>
              </a:rPr>
              <a:t>Physics</a:t>
            </a:r>
            <a:r>
              <a:rPr b="1" sz="1250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b="0" sz="1100">
                <a:solidFill>
                  <a:srgbClr val="8C7C69"/>
                </a:solidFill>
                <a:latin typeface="Segoe UI"/>
              </a:rPr>
              <a:t>4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 spc="280">
                <a:solidFill>
                  <a:srgbClr val="E07A42"/>
                </a:solidFill>
                <a:latin typeface="Segoe UI"/>
              </a:rPr>
              <a:t>WHY IT’S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b="1" sz="3000">
                <a:solidFill>
                  <a:srgbClr val="F4ECE1"/>
                </a:solidFill>
                <a:latin typeface="Georgia"/>
              </a:rPr>
              <a:t>Not another tutoring app — a deep-tech engine.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241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Physics engines compute everything; the AI writes only </a:t>
            </a:r>
            <a:r>
              <a:rPr b="1" sz="1650">
                <a:solidFill>
                  <a:srgbClr val="FFFFFF"/>
                </a:solidFill>
                <a:latin typeface="Segoe UI"/>
              </a:rPr>
              <a:t>configuration, never the physics</a:t>
            </a:r>
            <a:r>
              <a:rPr b="0" sz="1650">
                <a:solidFill>
                  <a:srgbClr val="ECE3D6"/>
                </a:solidFill>
                <a:latin typeface="Segoe UI"/>
              </a:rPr>
              <a:t> → always accurate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A </a:t>
            </a:r>
            <a:r>
              <a:rPr b="1" sz="1650">
                <a:solidFill>
                  <a:srgbClr val="FFFFFF"/>
                </a:solidFill>
                <a:latin typeface="Segoe UI"/>
              </a:rPr>
              <a:t>curriculum-specific simulation library</a:t>
            </a:r>
            <a:r>
              <a:rPr b="0" sz="1650">
                <a:solidFill>
                  <a:srgbClr val="ECE3D6"/>
                </a:solidFill>
                <a:latin typeface="Segoe UI"/>
              </a:rPr>
              <a:t> — our core IP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A proprietary </a:t>
            </a:r>
            <a:r>
              <a:rPr b="1" sz="1650">
                <a:solidFill>
                  <a:srgbClr val="FFFFFF"/>
                </a:solidFill>
                <a:latin typeface="Segoe UI"/>
              </a:rPr>
              <a:t>data flywheel</a:t>
            </a:r>
            <a:r>
              <a:rPr b="0" sz="1650">
                <a:solidFill>
                  <a:srgbClr val="ECE3D6"/>
                </a:solidFill>
                <a:latin typeface="Segoe UI"/>
              </a:rPr>
              <a:t>: every student doubt improves the next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25780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300" i="1">
                <a:solidFill>
                  <a:srgbClr val="8C7C69"/>
                </a:solidFill>
                <a:latin typeface="Segoe UI"/>
              </a:rPr>
              <a:t>Defensible technology + knowledge — not a feature a competitor can copy.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19809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50">
                <a:solidFill>
                  <a:srgbClr val="E07A42"/>
                </a:solidFill>
                <a:latin typeface="Georgia"/>
              </a:rPr>
              <a:t>Physics</a:t>
            </a:r>
            <a:r>
              <a:rPr b="1" sz="1250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b="0" sz="1100">
                <a:solidFill>
                  <a:srgbClr val="8C7C69"/>
                </a:solidFill>
                <a:latin typeface="Segoe UI"/>
              </a:rPr>
              <a:t>5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 spc="280">
                <a:solidFill>
                  <a:srgbClr val="E07A42"/>
                </a:solidFill>
                <a:latin typeface="Segoe UI"/>
              </a:rPr>
              <a:t>PRODUCT · B2C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b="1" sz="3200">
                <a:solidFill>
                  <a:srgbClr val="F4ECE1"/>
                </a:solidFill>
                <a:latin typeface="Georgia"/>
              </a:rPr>
              <a:t>Direct-to-student subscription.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Students </a:t>
            </a:r>
            <a:r>
              <a:rPr b="1" sz="1650">
                <a:solidFill>
                  <a:srgbClr val="FFFFFF"/>
                </a:solidFill>
                <a:latin typeface="Segoe UI"/>
              </a:rPr>
              <a:t>subscribe directly</a:t>
            </a:r>
            <a:r>
              <a:rPr b="0" sz="1650">
                <a:solidFill>
                  <a:srgbClr val="ECE3D6"/>
                </a:solidFill>
                <a:latin typeface="Segoe UI"/>
              </a:rPr>
              <a:t> — web app + AI voice professor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Tiered: simulations → AI doubt-solving → voice professor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1" sz="1650">
                <a:solidFill>
                  <a:srgbClr val="FFFFFF"/>
                </a:solidFill>
                <a:latin typeface="Segoe UI"/>
              </a:rPr>
              <a:t>Concept clarity first</a:t>
            </a:r>
            <a:r>
              <a:rPr b="0" sz="1650">
                <a:solidFill>
                  <a:srgbClr val="ECE3D6"/>
                </a:solidFill>
                <a:latin typeface="Segoe UI"/>
              </a:rPr>
              <a:t>; exam depth grows with the 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25780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300" i="1">
                <a:solidFill>
                  <a:srgbClr val="8C7C69"/>
                </a:solidFill>
                <a:latin typeface="Segoe UI"/>
              </a:rPr>
              <a:t>No dependence on schools or institutions.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50">
                <a:solidFill>
                  <a:srgbClr val="E07A42"/>
                </a:solidFill>
                <a:latin typeface="Georgia"/>
              </a:rPr>
              <a:t>Physics</a:t>
            </a:r>
            <a:r>
              <a:rPr b="1" sz="1250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b="0" sz="1100">
                <a:solidFill>
                  <a:srgbClr val="8C7C69"/>
                </a:solidFill>
                <a:latin typeface="Segoe UI"/>
              </a:rPr>
              <a:t>6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 spc="280">
                <a:solidFill>
                  <a:srgbClr val="E07A42"/>
                </a:solidFill>
                <a:latin typeface="Segoe UI"/>
              </a:rPr>
              <a:t>MARKET &amp; 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b="1" sz="3000">
                <a:solidFill>
                  <a:srgbClr val="F4ECE1"/>
                </a:solidFill>
                <a:latin typeface="Georgia"/>
              </a:rPr>
              <a:t>A focused entry into a global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Global STEM learning — underserved by </a:t>
            </a:r>
            <a:r>
              <a:rPr b="1" sz="1650">
                <a:solidFill>
                  <a:srgbClr val="FFFFFF"/>
                </a:solidFill>
                <a:latin typeface="Segoe UI"/>
              </a:rPr>
              <a:t>simulation-first</a:t>
            </a:r>
            <a:r>
              <a:rPr b="0" sz="1650">
                <a:solidFill>
                  <a:srgbClr val="ECE3D6"/>
                </a:solidFill>
                <a:latin typeface="Segoe UI"/>
              </a:rPr>
              <a:t> products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Build on the </a:t>
            </a:r>
            <a:r>
              <a:rPr b="1" sz="1650">
                <a:solidFill>
                  <a:srgbClr val="FFFFFF"/>
                </a:solidFill>
                <a:latin typeface="Segoe UI"/>
              </a:rPr>
              <a:t>Indian curriculum</a:t>
            </a:r>
            <a:r>
              <a:rPr b="0" sz="1650">
                <a:solidFill>
                  <a:srgbClr val="ECE3D6"/>
                </a:solidFill>
                <a:latin typeface="Segoe UI"/>
              </a:rPr>
              <a:t> (deepest → ports to AP / A-level / IB)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First revenue: </a:t>
            </a:r>
            <a:r>
              <a:rPr b="1" sz="1650">
                <a:solidFill>
                  <a:srgbClr val="FFFFFF"/>
                </a:solidFill>
                <a:latin typeface="Segoe UI"/>
              </a:rPr>
              <a:t>UAE diaspora</a:t>
            </a:r>
            <a:r>
              <a:rPr b="0" sz="1650">
                <a:solidFill>
                  <a:srgbClr val="ECE3D6"/>
                </a:solidFill>
                <a:latin typeface="Segoe UI"/>
              </a:rPr>
              <a:t> — same curriculum, high willingness to pay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Year 2: India scale + Western curricula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67733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50">
                <a:solidFill>
                  <a:srgbClr val="E07A42"/>
                </a:solidFill>
                <a:latin typeface="Georgia"/>
              </a:rPr>
              <a:t>Physics</a:t>
            </a:r>
            <a:r>
              <a:rPr b="1" sz="1250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b="0" sz="1100">
                <a:solidFill>
                  <a:srgbClr val="8C7C69"/>
                </a:solidFill>
                <a:latin typeface="Segoe UI"/>
              </a:rPr>
              <a:t>7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 spc="280">
                <a:solidFill>
                  <a:srgbClr val="E07A42"/>
                </a:solidFill>
                <a:latin typeface="Segoe UI"/>
              </a:rPr>
              <a:t>TRACTION &amp;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b="1" sz="3000">
                <a:solidFill>
                  <a:srgbClr val="F4ECE1"/>
                </a:solidFill>
                <a:latin typeface="Georgia"/>
              </a:rPr>
              <a:t>Already building. Already validated by a teacher.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1" sz="1650">
                <a:solidFill>
                  <a:srgbClr val="FFFFFF"/>
                </a:solidFill>
                <a:latin typeface="Segoe UI"/>
              </a:rPr>
              <a:t>Gold-standard simulations built</a:t>
            </a:r>
            <a:r>
              <a:rPr b="0" sz="1650">
                <a:solidFill>
                  <a:srgbClr val="ECE3D6"/>
                </a:solidFill>
                <a:latin typeface="Segoe UI"/>
              </a:rPr>
              <a:t> — magnetism &amp; electrostatics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Working </a:t>
            </a:r>
            <a:r>
              <a:rPr b="1" sz="1650">
                <a:solidFill>
                  <a:srgbClr val="FFFFFF"/>
                </a:solidFill>
                <a:latin typeface="Segoe UI"/>
              </a:rPr>
              <a:t>AI authoring pipeline</a:t>
            </a:r>
            <a:r>
              <a:rPr b="0" sz="1650">
                <a:solidFill>
                  <a:srgbClr val="ECE3D6"/>
                </a:solidFill>
                <a:latin typeface="Segoe UI"/>
              </a:rPr>
              <a:t> + AI voice-professor prototype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A </a:t>
            </a:r>
            <a:r>
              <a:rPr b="1" sz="1650">
                <a:solidFill>
                  <a:srgbClr val="FFFFFF"/>
                </a:solidFill>
                <a:latin typeface="Segoe UI"/>
              </a:rPr>
              <a:t>teacher co-development partner</a:t>
            </a:r>
            <a:r>
              <a:rPr b="0" sz="1650">
                <a:solidFill>
                  <a:srgbClr val="ECE3D6"/>
                </a:solidFill>
                <a:latin typeface="Segoe UI"/>
              </a:rPr>
              <a:t> reviewing real lessons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Built solo, from Germany, with AI-assisted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29200"/>
            <a:ext cx="2331720" cy="420624"/>
          </a:xfrm>
          <a:prstGeom prst="roundRect">
            <a:avLst/>
          </a:prstGeom>
          <a:noFill/>
          <a:ln w="15875">
            <a:solidFill>
              <a:srgbClr val="E07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27432" bIns="27432"/>
          <a:lstStyle/>
          <a:p>
            <a:pPr algn="ctr"/>
            <a:r>
              <a:rPr b="1" sz="1050" spc="180">
                <a:solidFill>
                  <a:srgbClr val="E07A42"/>
                </a:solidFill>
                <a:latin typeface="Segoe UI"/>
              </a:rPr>
              <a:t>✓  TEACHER-VERIFIED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300" i="1">
                <a:solidFill>
                  <a:srgbClr val="8C7C69"/>
                </a:solidFill>
                <a:latin typeface="Segoe UI"/>
              </a:rPr>
              <a:t>Pre-revenue today — a teacher-supervised student pilot is the next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50">
                <a:solidFill>
                  <a:srgbClr val="E07A42"/>
                </a:solidFill>
                <a:latin typeface="Georgia"/>
              </a:rPr>
              <a:t>Physics</a:t>
            </a:r>
            <a:r>
              <a:rPr b="1" sz="1250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b="0" sz="1100">
                <a:solidFill>
                  <a:srgbClr val="8C7C69"/>
                </a:solidFill>
                <a:latin typeface="Segoe UI"/>
              </a:rPr>
              <a:t>8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 spc="280">
                <a:solidFill>
                  <a:srgbClr val="E07A42"/>
                </a:solidFill>
                <a:latin typeface="Segoe UI"/>
              </a:rPr>
              <a:t>EXIST · 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b="1" sz="3200">
                <a:solidFill>
                  <a:srgbClr val="F4ECE1"/>
                </a:solidFill>
                <a:latin typeface="Georgia"/>
              </a:rPr>
              <a:t>What the stipend makes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>
                <a:solidFill>
                  <a:srgbClr val="EAA63C"/>
                </a:solidFill>
                <a:latin typeface="Segoe UI"/>
              </a:rPr>
              <a:t>THE 12-MONTH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 spc="200">
                <a:solidFill>
                  <a:srgbClr val="EAA63C"/>
                </a:solidFill>
                <a:latin typeface="Segoe UI"/>
              </a:rPr>
              <a:t>THE 12-MONTH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10128"/>
            <a:ext cx="49377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b="0" sz="1200">
                <a:solidFill>
                  <a:srgbClr val="EAA63C"/>
                </a:solidFill>
                <a:latin typeface="Segoe UI"/>
              </a:rPr>
              <a:t>◆   </a:t>
            </a:r>
            <a:r>
              <a:rPr b="0" sz="1500">
                <a:solidFill>
                  <a:srgbClr val="ECE3D6"/>
                </a:solidFill>
                <a:latin typeface="Segoe UI"/>
              </a:rPr>
              <a:t>Build the concept library to depth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b="0" sz="1200">
                <a:solidFill>
                  <a:srgbClr val="EAA63C"/>
                </a:solidFill>
                <a:latin typeface="Segoe UI"/>
              </a:rPr>
              <a:t>◆   </a:t>
            </a:r>
            <a:r>
              <a:rPr b="0" sz="1500">
                <a:solidFill>
                  <a:srgbClr val="ECE3D6"/>
                </a:solidFill>
                <a:latin typeface="Segoe UI"/>
              </a:rPr>
              <a:t>Run a teacher + student pilot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b="0" sz="1200">
                <a:solidFill>
                  <a:srgbClr val="EAA63C"/>
                </a:solidFill>
                <a:latin typeface="Segoe UI"/>
              </a:rPr>
              <a:t>◆   </a:t>
            </a:r>
            <a:r>
              <a:rPr b="0" sz="1500">
                <a:solidFill>
                  <a:srgbClr val="ECE3D6"/>
                </a:solidFill>
                <a:latin typeface="Segoe UI"/>
              </a:rPr>
              <a:t>Reach first paying users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b="0" sz="1200">
                <a:solidFill>
                  <a:srgbClr val="EAA63C"/>
                </a:solidFill>
                <a:latin typeface="Segoe UI"/>
              </a:rPr>
              <a:t>◆   </a:t>
            </a:r>
            <a:r>
              <a:rPr b="0" sz="1500">
                <a:solidFill>
                  <a:srgbClr val="ECE3D6"/>
                </a:solidFill>
                <a:latin typeface="Segoe UI"/>
              </a:rPr>
              <a:t>Build a German-based deep-tech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880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 spc="200">
                <a:solidFill>
                  <a:srgbClr val="EAA63C"/>
                </a:solidFill>
                <a:latin typeface="Segoe UI"/>
              </a:rPr>
              <a:t>MY QUESTIONS FOR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310128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b="0" sz="1200">
                <a:solidFill>
                  <a:srgbClr val="EAA63C"/>
                </a:solidFill>
                <a:latin typeface="Segoe UI"/>
              </a:rPr>
              <a:t>◆   </a:t>
            </a:r>
            <a:r>
              <a:rPr b="0" sz="1500">
                <a:solidFill>
                  <a:srgbClr val="ECE3D6"/>
                </a:solidFill>
                <a:latin typeface="Segoe UI"/>
              </a:rPr>
              <a:t>Eligibility (DIU graduate, 2026)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b="0" sz="1200">
                <a:solidFill>
                  <a:srgbClr val="EAA63C"/>
                </a:solidFill>
                <a:latin typeface="Segoe UI"/>
              </a:rPr>
              <a:t>◆   </a:t>
            </a:r>
            <a:r>
              <a:rPr b="0" sz="1500">
                <a:solidFill>
                  <a:srgbClr val="ECE3D6"/>
                </a:solidFill>
                <a:latin typeface="Segoe UI"/>
              </a:rPr>
              <a:t>Team requirement — do I need co-founders?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b="0" sz="1200">
                <a:solidFill>
                  <a:srgbClr val="EAA63C"/>
                </a:solidFill>
                <a:latin typeface="Segoe UI"/>
              </a:rPr>
              <a:t>◆   </a:t>
            </a:r>
            <a:r>
              <a:rPr b="0" sz="1500">
                <a:solidFill>
                  <a:srgbClr val="ECE3D6"/>
                </a:solidFill>
                <a:latin typeface="Segoe UI"/>
              </a:rPr>
              <a:t>Professor / mentor — can you help me find one?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b="0" sz="1200">
                <a:solidFill>
                  <a:srgbClr val="EAA63C"/>
                </a:solidFill>
                <a:latin typeface="Segoe UI"/>
              </a:rPr>
              <a:t>◆   </a:t>
            </a:r>
            <a:r>
              <a:rPr b="0" sz="1500">
                <a:solidFill>
                  <a:srgbClr val="ECE3D6"/>
                </a:solidFill>
                <a:latin typeface="Segoe UI"/>
              </a:rPr>
              <a:t>Visa pathway (§20 → §21)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b="0" sz="1200">
                <a:solidFill>
                  <a:srgbClr val="EAA63C"/>
                </a:solidFill>
                <a:latin typeface="Segoe UI"/>
              </a:rPr>
              <a:t>◆   </a:t>
            </a:r>
            <a:r>
              <a:rPr b="0" sz="1500">
                <a:solidFill>
                  <a:srgbClr val="ECE3D6"/>
                </a:solidFill>
                <a:latin typeface="Segoe UI"/>
              </a:rPr>
              <a:t>Next steps &amp; timeline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