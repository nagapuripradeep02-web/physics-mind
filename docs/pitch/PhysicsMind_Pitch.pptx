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STORY OPEN (30 sec): Every Indian student dreams of cracking JEE or NEET, but most can't afford a great personal teacher. I'm building the next best thing — a physics tutor that makes each concept genuinely click. Let me walk you through it as a story: the problem, what we built, how it makes money, how we build it, and where it goes over three years. I'll show you a live simulation in a minute.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stakes. ~38 lakh aspirants a year for a few thousand seats. Physics is where they break — and they break because they MEMORISE instead of UNDERSTAND. The market is drowning in content; what's missing is the moment a concept clicks. That's normally a great teacher's job — and that's exactly what almost nobody can afford.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opportunity. The market is huge and growing, but online barely scratches JEE/NEET (&lt;2%). PhysicsWallah proves students will pay — but PW is B2C, a RIVAL to coaching institutes, not a supplier. Nobody is arming the institute with a guided, exam-deep, Indian-context simulation layer. That empty lane is ours.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product. Each simulation teaches ONE concept to mastery, interactively — the line to land is “ChatGPT tells you; PhysicsMind shows you.” We deliberately do ONE thing excellently: conceptual mastery at JEE/NEET depth (we dropped board/competitive feature-modes to go faster and deeper). Then DEMO the magnetic-force sim live — that turns the claim into proof.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it's defensible. (1) Architecture makes serving nearly free — software margins. (2) The library compounds — each sim is permanent inventory. (3) The flywheel: once REAL students use it (starting with the pilot — be honest we don't have that data yet), we learn exactly where they get stuck and improve weekly. (4) Indian context no Western tool has. Be clear the flywheel ACTIVATES with the pilot — it's not data we already hold.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it makes money. Subscription to institutes, not a B2C price war. Don't over-claim exact pricing — say we validate it in the pilot. Headline = 85–90% margin: once a sim exists, serving it is nearly free, so each new institute is almost pure margin. The white-label upsell: their brand on it costs them extra.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honesty slide — this is what builds an investor's trust. Be straight: a great sim takes ~10 days now; it gets faster as we build reusable parts; then it improves forever from student feedback (the moat). And our real constraint is how fast we can MAKE quality sims, not whether people want them. Most founders hide their bottleneck — we're showing ours, with a plan to beat it (next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funding logic, shown honestly. Two people can PROVE it but cannot build the catalogue the market needs in any reasonable time. So the plan is: prove with 2 → then a small, capital-efficient India team multiplies output (~₹50–80L/yr in year 2). This is why a raise makes sense AFTER the pilot — the money buys content velocity, the one real bottleneck.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journey. Year 1 is cheap and about PROOF — two of us, one chapter, 1–2 institutes free, measure the comprehension lift. End of year 1 we start selling. Year 2: a small team, finish physics + start maths/chem, and open the UAE (same CBSE, zero rebuild) with the AI chatbot/voice tutor. Year 3: scale and enter the West after a syllabus rebuild. Each stage de-risks the next; a team accelerates all of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as forward motion, NOT a request. Don't ask for money or for access. Say: the product is real, the method works, and the natural next step is a small pilot to PROVE the learning lift — and that proof unlocks everything after it. Let the listener volunteer to help. Then stop and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1691640"/>
            <a:ext cx="10058400" cy="1280160"/>
          </a:xfrm>
          <a:prstGeom prst="rect">
            <a:avLst/>
          </a:prstGeom>
          <a:noFill/>
        </p:spPr>
        <p:txBody>
          <a:bodyPr wrap="square" anchor="t" lIns="0" rIns="0" tIns="0" bIns="0">
            <a:spAutoFit/>
          </a:bodyPr>
          <a:lstStyle/>
          <a:p>
            <a:pPr algn="l">
              <a:lnSpc>
                <a:spcPct val="98000"/>
              </a:lnSpc>
              <a:spcBef>
                <a:spcPts val="0"/>
              </a:spcBef>
              <a:spcAft>
                <a:spcPts val="0"/>
              </a:spcAft>
            </a:pPr>
            <a:r>
              <a:rPr sz="5800" b="1" i="0">
                <a:solidFill>
                  <a:srgbClr val="FFFFFF"/>
                </a:solidFill>
                <a:latin typeface="Segoe UI"/>
              </a:rPr>
              <a:t>PhysicsMind</a:t>
            </a:r>
          </a:p>
        </p:txBody>
      </p:sp>
      <p:sp>
        <p:nvSpPr>
          <p:cNvPr id="4" name="TextBox 3"/>
          <p:cNvSpPr txBox="1"/>
          <p:nvPr/>
        </p:nvSpPr>
        <p:spPr>
          <a:xfrm>
            <a:off x="1024128" y="2788920"/>
            <a:ext cx="9875520" cy="1463040"/>
          </a:xfrm>
          <a:prstGeom prst="rect">
            <a:avLst/>
          </a:prstGeom>
          <a:noFill/>
        </p:spPr>
        <p:txBody>
          <a:bodyPr wrap="square" anchor="t" lIns="0" rIns="0" tIns="0" bIns="0">
            <a:spAutoFit/>
          </a:bodyPr>
          <a:lstStyle/>
          <a:p>
            <a:pPr algn="l">
              <a:lnSpc>
                <a:spcPct val="112000"/>
              </a:lnSpc>
              <a:spcBef>
                <a:spcPts val="0"/>
              </a:spcBef>
              <a:spcAft>
                <a:spcPts val="600"/>
              </a:spcAft>
            </a:pPr>
            <a:r>
              <a:rPr sz="2300" b="0" i="0">
                <a:solidFill>
                  <a:srgbClr val="42A5F5"/>
                </a:solidFill>
                <a:latin typeface="Segoe UI"/>
              </a:rPr>
              <a:t>A personal physics tutor for every student who doesn't have one.</a:t>
            </a:r>
          </a:p>
          <a:p>
            <a:pPr algn="l">
              <a:lnSpc>
                <a:spcPct val="125000"/>
              </a:lnSpc>
              <a:spcBef>
                <a:spcPts val="0"/>
              </a:spcBef>
              <a:spcAft>
                <a:spcPts val="0"/>
              </a:spcAft>
            </a:pPr>
            <a:r>
              <a:rPr sz="1500" b="0" i="0">
                <a:solidFill>
                  <a:srgbClr val="93A4BC"/>
                </a:solidFill>
                <a:latin typeface="Segoe UI"/>
              </a:rPr>
              <a:t>Interactive simulations that make a hard concept click in one viewing — for India's Class 10–12, JEE / NEET / board students.</a:t>
            </a:r>
          </a:p>
        </p:txBody>
      </p:sp>
      <p:sp>
        <p:nvSpPr>
          <p:cNvPr id="5" name="Rectangle 4"/>
          <p:cNvSpPr/>
          <p:nvPr/>
        </p:nvSpPr>
        <p:spPr>
          <a:xfrm>
            <a:off x="1024128" y="5486400"/>
            <a:ext cx="2926080" cy="25400"/>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5669280"/>
            <a:ext cx="10058400" cy="73152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CBD5E1"/>
                </a:solidFill>
                <a:latin typeface="Segoe UI"/>
              </a:rPr>
              <a:t>Pradeep  ·  Founder</a:t>
            </a:r>
            <a:r>
              <a:rPr sz="1300" b="0" i="0">
                <a:solidFill>
                  <a:srgbClr val="93A4BC"/>
                </a:solidFill>
                <a:latin typeface="Segoe UI"/>
              </a:rPr>
              <a:t>      Pitch overview ·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75488"/>
            <a:ext cx="10545775" cy="36576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1E88E5"/>
                </a:solidFill>
                <a:latin typeface="Segoe UI"/>
              </a:rPr>
              <a:t>01 · THE PROBLEM</a:t>
            </a:r>
          </a:p>
        </p:txBody>
      </p:sp>
      <p:sp>
        <p:nvSpPr>
          <p:cNvPr id="4" name="TextBox 3"/>
          <p:cNvSpPr txBox="1"/>
          <p:nvPr/>
        </p:nvSpPr>
        <p:spPr>
          <a:xfrm>
            <a:off x="822960" y="841248"/>
            <a:ext cx="10545775" cy="109728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1E293B"/>
                </a:solidFill>
                <a:latin typeface="Segoe UI"/>
              </a:rPr>
              <a:t>Millions compete. Almost none truly understand the physics.</a:t>
            </a:r>
          </a:p>
        </p:txBody>
      </p:sp>
      <p:sp>
        <p:nvSpPr>
          <p:cNvPr id="5" name="Rectangle 4"/>
          <p:cNvSpPr/>
          <p:nvPr/>
        </p:nvSpPr>
        <p:spPr>
          <a:xfrm>
            <a:off x="822960" y="2029968"/>
            <a:ext cx="10545775"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19088"/>
            <a:ext cx="6400800" cy="320040"/>
          </a:xfrm>
          <a:prstGeom prst="rect">
            <a:avLst/>
          </a:prstGeom>
          <a:noFill/>
        </p:spPr>
        <p:txBody>
          <a:bodyPr wrap="square" anchor="t" lIns="0" rIns="0" tIns="0" bIns="0">
            <a:spAutoFit/>
          </a:bodyPr>
          <a:lstStyle/>
          <a:p>
            <a:pPr algn="l">
              <a:lnSpc>
                <a:spcPct val="105000"/>
              </a:lnSpc>
              <a:spcBef>
                <a:spcPts val="0"/>
              </a:spcBef>
              <a:spcAft>
                <a:spcPts val="0"/>
              </a:spcAft>
            </a:pPr>
            <a:r>
              <a:rPr sz="1000" b="1" i="0">
                <a:solidFill>
                  <a:srgbClr val="64748B"/>
                </a:solidFill>
                <a:latin typeface="Segoe UI"/>
              </a:rPr>
              <a:t>PhysicsMind</a:t>
            </a:r>
            <a:r>
              <a:rPr sz="1000" b="0" i="0">
                <a:solidFill>
                  <a:srgbClr val="64748B"/>
                </a:solidFill>
                <a:latin typeface="Segoe UI"/>
              </a:rPr>
              <a:t>   ·   A physics tutor that makes the concept click</a:t>
            </a:r>
          </a:p>
        </p:txBody>
      </p:sp>
      <p:sp>
        <p:nvSpPr>
          <p:cNvPr id="7" name="Rounded Rectangle 6"/>
          <p:cNvSpPr/>
          <p:nvPr/>
        </p:nvSpPr>
        <p:spPr>
          <a:xfrm>
            <a:off x="822960" y="2331720"/>
            <a:ext cx="3332378" cy="13716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 y="2496312"/>
            <a:ext cx="2930042" cy="1042416"/>
          </a:xfrm>
          <a:prstGeom prst="rect">
            <a:avLst/>
          </a:prstGeom>
          <a:noFill/>
        </p:spPr>
        <p:txBody>
          <a:bodyPr wrap="square" anchor="ctr" lIns="0" rIns="0" tIns="0" bIns="0">
            <a:spAutoFit/>
          </a:bodyPr>
          <a:lstStyle/>
          <a:p>
            <a:pPr algn="l">
              <a:lnSpc>
                <a:spcPct val="95000"/>
              </a:lnSpc>
              <a:spcBef>
                <a:spcPts val="0"/>
              </a:spcBef>
              <a:spcAft>
                <a:spcPts val="400"/>
              </a:spcAft>
            </a:pPr>
            <a:r>
              <a:rPr sz="2800" b="1" i="0">
                <a:solidFill>
                  <a:srgbClr val="1E88E5"/>
                </a:solidFill>
                <a:latin typeface="Segoe UI"/>
              </a:rPr>
              <a:t>~38 lakh</a:t>
            </a:r>
          </a:p>
          <a:p>
            <a:pPr algn="l">
              <a:lnSpc>
                <a:spcPct val="105000"/>
              </a:lnSpc>
              <a:spcBef>
                <a:spcPts val="0"/>
              </a:spcBef>
              <a:spcAft>
                <a:spcPts val="0"/>
              </a:spcAft>
            </a:pPr>
            <a:r>
              <a:rPr sz="1250" b="0" i="0">
                <a:solidFill>
                  <a:srgbClr val="64748B"/>
                </a:solidFill>
                <a:latin typeface="Segoe UI"/>
              </a:rPr>
              <a:t>students sit JEE + NEET every year</a:t>
            </a:r>
          </a:p>
        </p:txBody>
      </p:sp>
      <p:sp>
        <p:nvSpPr>
          <p:cNvPr id="9" name="Rounded Rectangle 8"/>
          <p:cNvSpPr/>
          <p:nvPr/>
        </p:nvSpPr>
        <p:spPr>
          <a:xfrm>
            <a:off x="4429658" y="2331720"/>
            <a:ext cx="3332378" cy="13716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0826" y="2496312"/>
            <a:ext cx="2930042" cy="1042416"/>
          </a:xfrm>
          <a:prstGeom prst="rect">
            <a:avLst/>
          </a:prstGeom>
          <a:noFill/>
        </p:spPr>
        <p:txBody>
          <a:bodyPr wrap="square" anchor="ctr" lIns="0" rIns="0" tIns="0" bIns="0">
            <a:spAutoFit/>
          </a:bodyPr>
          <a:lstStyle/>
          <a:p>
            <a:pPr algn="l">
              <a:lnSpc>
                <a:spcPct val="95000"/>
              </a:lnSpc>
              <a:spcBef>
                <a:spcPts val="0"/>
              </a:spcBef>
              <a:spcAft>
                <a:spcPts val="400"/>
              </a:spcAft>
            </a:pPr>
            <a:r>
              <a:rPr sz="2200" b="1" i="0">
                <a:solidFill>
                  <a:srgbClr val="F57C00"/>
                </a:solidFill>
                <a:latin typeface="Segoe UI"/>
              </a:rPr>
              <a:t>a few thousand</a:t>
            </a:r>
          </a:p>
          <a:p>
            <a:pPr algn="l">
              <a:lnSpc>
                <a:spcPct val="105000"/>
              </a:lnSpc>
              <a:spcBef>
                <a:spcPts val="0"/>
              </a:spcBef>
              <a:spcAft>
                <a:spcPts val="0"/>
              </a:spcAft>
            </a:pPr>
            <a:r>
              <a:rPr sz="1250" b="0" i="0">
                <a:solidFill>
                  <a:srgbClr val="64748B"/>
                </a:solidFill>
                <a:latin typeface="Segoe UI"/>
              </a:rPr>
              <a:t>IIT + top medical seats they fight for</a:t>
            </a:r>
          </a:p>
        </p:txBody>
      </p:sp>
      <p:sp>
        <p:nvSpPr>
          <p:cNvPr id="11" name="Rounded Rectangle 10"/>
          <p:cNvSpPr/>
          <p:nvPr/>
        </p:nvSpPr>
        <p:spPr>
          <a:xfrm>
            <a:off x="8036356" y="2331720"/>
            <a:ext cx="3332378" cy="13716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37524" y="2496312"/>
            <a:ext cx="2930042" cy="1042416"/>
          </a:xfrm>
          <a:prstGeom prst="rect">
            <a:avLst/>
          </a:prstGeom>
          <a:noFill/>
        </p:spPr>
        <p:txBody>
          <a:bodyPr wrap="square" anchor="ctr" lIns="0" rIns="0" tIns="0" bIns="0">
            <a:spAutoFit/>
          </a:bodyPr>
          <a:lstStyle/>
          <a:p>
            <a:pPr algn="l">
              <a:lnSpc>
                <a:spcPct val="95000"/>
              </a:lnSpc>
              <a:spcBef>
                <a:spcPts val="0"/>
              </a:spcBef>
              <a:spcAft>
                <a:spcPts val="400"/>
              </a:spcAft>
            </a:pPr>
            <a:r>
              <a:rPr sz="2800" b="1" i="0">
                <a:solidFill>
                  <a:srgbClr val="1B9E5A"/>
                </a:solidFill>
                <a:latin typeface="Segoe UI"/>
              </a:rPr>
              <a:t>#1</a:t>
            </a:r>
          </a:p>
          <a:p>
            <a:pPr algn="l">
              <a:lnSpc>
                <a:spcPct val="105000"/>
              </a:lnSpc>
              <a:spcBef>
                <a:spcPts val="0"/>
              </a:spcBef>
              <a:spcAft>
                <a:spcPts val="0"/>
              </a:spcAft>
            </a:pPr>
            <a:r>
              <a:rPr sz="1250" b="0" i="0">
                <a:solidFill>
                  <a:srgbClr val="64748B"/>
                </a:solidFill>
                <a:latin typeface="Segoe UI"/>
              </a:rPr>
              <a:t>physics — the most-feared subject</a:t>
            </a:r>
          </a:p>
        </p:txBody>
      </p:sp>
      <p:sp>
        <p:nvSpPr>
          <p:cNvPr id="13" name="TextBox 12"/>
          <p:cNvSpPr txBox="1"/>
          <p:nvPr/>
        </p:nvSpPr>
        <p:spPr>
          <a:xfrm>
            <a:off x="822960" y="3931920"/>
            <a:ext cx="10545775" cy="2377440"/>
          </a:xfrm>
          <a:prstGeom prst="rect">
            <a:avLst/>
          </a:prstGeom>
          <a:noFill/>
        </p:spPr>
        <p:txBody>
          <a:bodyPr wrap="square" anchor="t" lIns="0" rIns="0" tIns="0" bIns="0">
            <a:spAutoFit/>
          </a:bodyPr>
          <a:lstStyle/>
          <a:p>
            <a:pPr algn="l">
              <a:lnSpc>
                <a:spcPct val="108000"/>
              </a:lnSpc>
              <a:spcBef>
                <a:spcPts val="0"/>
              </a:spcBef>
              <a:spcAft>
                <a:spcPts val="1000"/>
              </a:spcAft>
            </a:pPr>
            <a:r>
              <a:rPr sz="1500" b="1" i="0">
                <a:solidFill>
                  <a:srgbClr val="1E88E5"/>
                </a:solidFill>
                <a:latin typeface="Segoe UI"/>
              </a:rPr>
              <a:t>▸  </a:t>
            </a:r>
            <a:r>
              <a:rPr sz="1500" b="0" i="0">
                <a:solidFill>
                  <a:srgbClr val="1E293B"/>
                </a:solidFill>
                <a:latin typeface="Segoe UI"/>
              </a:rPr>
              <a:t>Students memorise formulas they have never actually visualised — so it collapses under exam pressure.</a:t>
            </a:r>
          </a:p>
          <a:p>
            <a:pPr algn="l">
              <a:lnSpc>
                <a:spcPct val="108000"/>
              </a:lnSpc>
              <a:spcBef>
                <a:spcPts val="0"/>
              </a:spcBef>
              <a:spcAft>
                <a:spcPts val="1000"/>
              </a:spcAft>
            </a:pPr>
            <a:r>
              <a:rPr sz="1500" b="1" i="0">
                <a:solidFill>
                  <a:srgbClr val="1E88E5"/>
                </a:solidFill>
                <a:latin typeface="Segoe UI"/>
              </a:rPr>
              <a:t>▸  </a:t>
            </a:r>
            <a:r>
              <a:rPr sz="1500" b="0" i="0">
                <a:solidFill>
                  <a:srgbClr val="1E293B"/>
                </a:solidFill>
                <a:latin typeface="Segoe UI"/>
              </a:rPr>
              <a:t>The shortage isn't content — it's genuine understanding. Notes, videos and tests are everywhere; the “aha” isn't.</a:t>
            </a:r>
          </a:p>
          <a:p>
            <a:pPr algn="l">
              <a:lnSpc>
                <a:spcPct val="108000"/>
              </a:lnSpc>
              <a:spcBef>
                <a:spcPts val="0"/>
              </a:spcBef>
              <a:spcAft>
                <a:spcPts val="1000"/>
              </a:spcAft>
            </a:pPr>
            <a:r>
              <a:rPr sz="1500" b="1" i="0">
                <a:solidFill>
                  <a:srgbClr val="1E88E5"/>
                </a:solidFill>
                <a:latin typeface="Segoe UI"/>
              </a:rPr>
              <a:t>▸  </a:t>
            </a:r>
            <a:r>
              <a:rPr sz="1500" b="0" i="0">
                <a:solidFill>
                  <a:srgbClr val="1E293B"/>
                </a:solidFill>
                <a:latin typeface="Segoe UI"/>
              </a:rPr>
              <a:t>A great personal teacher fixes this — but almost no student can afford one.</a:t>
            </a:r>
          </a:p>
        </p:txBody>
      </p:sp>
      <p:sp>
        <p:nvSpPr>
          <p:cNvPr id="14" name="TextBox 13"/>
          <p:cNvSpPr txBox="1"/>
          <p:nvPr/>
        </p:nvSpPr>
        <p:spPr>
          <a:xfrm>
            <a:off x="10911535" y="6419088"/>
            <a:ext cx="457200" cy="320040"/>
          </a:xfrm>
          <a:prstGeom prst="rect">
            <a:avLst/>
          </a:prstGeom>
          <a:noFill/>
        </p:spPr>
        <p:txBody>
          <a:bodyPr wrap="square" anchor="t" lIns="0" rIns="0" tIns="0" bIns="0">
            <a:spAutoFit/>
          </a:bodyPr>
          <a:lstStyle/>
          <a:p>
            <a:pPr algn="r">
              <a:lnSpc>
                <a:spcPct val="105000"/>
              </a:lnSpc>
              <a:spcBef>
                <a:spcPts val="0"/>
              </a:spcBef>
              <a:spcAft>
                <a:spcPts val="0"/>
              </a:spcAft>
            </a:pPr>
            <a:r>
              <a:rPr sz="1000" b="1" i="0">
                <a:solidFill>
                  <a:srgbClr val="64748B"/>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75488"/>
            <a:ext cx="10545775" cy="36576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1E88E5"/>
                </a:solidFill>
                <a:latin typeface="Segoe UI"/>
              </a:rPr>
              <a:t>02 · THE GAP</a:t>
            </a:r>
          </a:p>
        </p:txBody>
      </p:sp>
      <p:sp>
        <p:nvSpPr>
          <p:cNvPr id="4" name="TextBox 3"/>
          <p:cNvSpPr txBox="1"/>
          <p:nvPr/>
        </p:nvSpPr>
        <p:spPr>
          <a:xfrm>
            <a:off x="822960" y="841248"/>
            <a:ext cx="10545775" cy="109728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1E293B"/>
                </a:solidFill>
                <a:latin typeface="Segoe UI"/>
              </a:rPr>
              <a:t>A huge market — and the one thing nobody has built.</a:t>
            </a:r>
          </a:p>
        </p:txBody>
      </p:sp>
      <p:sp>
        <p:nvSpPr>
          <p:cNvPr id="5" name="Rectangle 4"/>
          <p:cNvSpPr/>
          <p:nvPr/>
        </p:nvSpPr>
        <p:spPr>
          <a:xfrm>
            <a:off x="822960" y="2029968"/>
            <a:ext cx="10545775"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19088"/>
            <a:ext cx="6400800" cy="320040"/>
          </a:xfrm>
          <a:prstGeom prst="rect">
            <a:avLst/>
          </a:prstGeom>
          <a:noFill/>
        </p:spPr>
        <p:txBody>
          <a:bodyPr wrap="square" anchor="t" lIns="0" rIns="0" tIns="0" bIns="0">
            <a:spAutoFit/>
          </a:bodyPr>
          <a:lstStyle/>
          <a:p>
            <a:pPr algn="l">
              <a:lnSpc>
                <a:spcPct val="105000"/>
              </a:lnSpc>
              <a:spcBef>
                <a:spcPts val="0"/>
              </a:spcBef>
              <a:spcAft>
                <a:spcPts val="0"/>
              </a:spcAft>
            </a:pPr>
            <a:r>
              <a:rPr sz="1000" b="1" i="0">
                <a:solidFill>
                  <a:srgbClr val="64748B"/>
                </a:solidFill>
                <a:latin typeface="Segoe UI"/>
              </a:rPr>
              <a:t>PhysicsMind</a:t>
            </a:r>
            <a:r>
              <a:rPr sz="1000" b="0" i="0">
                <a:solidFill>
                  <a:srgbClr val="64748B"/>
                </a:solidFill>
                <a:latin typeface="Segoe UI"/>
              </a:rPr>
              <a:t>   ·   A physics tutor that makes the concept click</a:t>
            </a:r>
          </a:p>
        </p:txBody>
      </p:sp>
      <p:sp>
        <p:nvSpPr>
          <p:cNvPr id="7" name="Rounded Rectangle 6"/>
          <p:cNvSpPr/>
          <p:nvPr/>
        </p:nvSpPr>
        <p:spPr>
          <a:xfrm>
            <a:off x="822960" y="2331720"/>
            <a:ext cx="3332378" cy="13716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 y="2496312"/>
            <a:ext cx="2930042" cy="1042416"/>
          </a:xfrm>
          <a:prstGeom prst="rect">
            <a:avLst/>
          </a:prstGeom>
          <a:noFill/>
        </p:spPr>
        <p:txBody>
          <a:bodyPr wrap="square" anchor="ctr" lIns="0" rIns="0" tIns="0" bIns="0">
            <a:spAutoFit/>
          </a:bodyPr>
          <a:lstStyle/>
          <a:p>
            <a:pPr algn="l">
              <a:lnSpc>
                <a:spcPct val="95000"/>
              </a:lnSpc>
              <a:spcBef>
                <a:spcPts val="0"/>
              </a:spcBef>
              <a:spcAft>
                <a:spcPts val="400"/>
              </a:spcAft>
            </a:pPr>
            <a:r>
              <a:rPr sz="3000" b="1" i="0">
                <a:solidFill>
                  <a:srgbClr val="F57C00"/>
                </a:solidFill>
                <a:latin typeface="Segoe UI"/>
              </a:rPr>
              <a:t>&lt;2%</a:t>
            </a:r>
          </a:p>
          <a:p>
            <a:pPr algn="l">
              <a:lnSpc>
                <a:spcPct val="105000"/>
              </a:lnSpc>
              <a:spcBef>
                <a:spcPts val="0"/>
              </a:spcBef>
              <a:spcAft>
                <a:spcPts val="0"/>
              </a:spcAft>
            </a:pPr>
            <a:r>
              <a:rPr sz="1250" b="0" i="0">
                <a:solidFill>
                  <a:srgbClr val="64748B"/>
                </a:solidFill>
                <a:latin typeface="Segoe UI"/>
              </a:rPr>
              <a:t>of JEE/NEET prep is online — barely touched</a:t>
            </a:r>
          </a:p>
        </p:txBody>
      </p:sp>
      <p:sp>
        <p:nvSpPr>
          <p:cNvPr id="9" name="Rounded Rectangle 8"/>
          <p:cNvSpPr/>
          <p:nvPr/>
        </p:nvSpPr>
        <p:spPr>
          <a:xfrm>
            <a:off x="4429658" y="2331720"/>
            <a:ext cx="3332378" cy="13716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0826" y="2496312"/>
            <a:ext cx="2930042" cy="1042416"/>
          </a:xfrm>
          <a:prstGeom prst="rect">
            <a:avLst/>
          </a:prstGeom>
          <a:noFill/>
        </p:spPr>
        <p:txBody>
          <a:bodyPr wrap="square" anchor="ctr" lIns="0" rIns="0" tIns="0" bIns="0">
            <a:spAutoFit/>
          </a:bodyPr>
          <a:lstStyle/>
          <a:p>
            <a:pPr algn="l">
              <a:lnSpc>
                <a:spcPct val="95000"/>
              </a:lnSpc>
              <a:spcBef>
                <a:spcPts val="0"/>
              </a:spcBef>
              <a:spcAft>
                <a:spcPts val="400"/>
              </a:spcAft>
            </a:pPr>
            <a:r>
              <a:rPr sz="2400" b="1" i="0">
                <a:solidFill>
                  <a:srgbClr val="1E88E5"/>
                </a:solidFill>
                <a:latin typeface="Segoe UI"/>
              </a:rPr>
              <a:t>$7.2B → $17.8B</a:t>
            </a:r>
          </a:p>
          <a:p>
            <a:pPr algn="l">
              <a:lnSpc>
                <a:spcPct val="105000"/>
              </a:lnSpc>
              <a:spcBef>
                <a:spcPts val="0"/>
              </a:spcBef>
              <a:spcAft>
                <a:spcPts val="0"/>
              </a:spcAft>
            </a:pPr>
            <a:r>
              <a:rPr sz="1250" b="0" i="0">
                <a:solidFill>
                  <a:srgbClr val="64748B"/>
                </a:solidFill>
                <a:latin typeface="Segoe UI"/>
              </a:rPr>
              <a:t>India coaching market, 2025 → 2034</a:t>
            </a:r>
          </a:p>
        </p:txBody>
      </p:sp>
      <p:sp>
        <p:nvSpPr>
          <p:cNvPr id="11" name="Rounded Rectangle 10"/>
          <p:cNvSpPr/>
          <p:nvPr/>
        </p:nvSpPr>
        <p:spPr>
          <a:xfrm>
            <a:off x="8036356" y="2331720"/>
            <a:ext cx="3332378" cy="13716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37524" y="2496312"/>
            <a:ext cx="2930042" cy="1042416"/>
          </a:xfrm>
          <a:prstGeom prst="rect">
            <a:avLst/>
          </a:prstGeom>
          <a:noFill/>
        </p:spPr>
        <p:txBody>
          <a:bodyPr wrap="square" anchor="ctr" lIns="0" rIns="0" tIns="0" bIns="0">
            <a:spAutoFit/>
          </a:bodyPr>
          <a:lstStyle/>
          <a:p>
            <a:pPr algn="l">
              <a:lnSpc>
                <a:spcPct val="95000"/>
              </a:lnSpc>
              <a:spcBef>
                <a:spcPts val="0"/>
              </a:spcBef>
              <a:spcAft>
                <a:spcPts val="400"/>
              </a:spcAft>
            </a:pPr>
            <a:r>
              <a:rPr sz="2800" b="1" i="0">
                <a:solidFill>
                  <a:srgbClr val="1B9E5A"/>
                </a:solidFill>
                <a:latin typeface="Segoe UI"/>
              </a:rPr>
              <a:t>4.46M</a:t>
            </a:r>
          </a:p>
          <a:p>
            <a:pPr algn="l">
              <a:lnSpc>
                <a:spcPct val="105000"/>
              </a:lnSpc>
              <a:spcBef>
                <a:spcPts val="0"/>
              </a:spcBef>
              <a:spcAft>
                <a:spcPts val="0"/>
              </a:spcAft>
            </a:pPr>
            <a:r>
              <a:rPr sz="1250" b="0" i="0">
                <a:solidFill>
                  <a:srgbClr val="64748B"/>
                </a:solidFill>
                <a:latin typeface="Segoe UI"/>
              </a:rPr>
              <a:t>paid users at PhysicsWallah — the market pays</a:t>
            </a:r>
          </a:p>
        </p:txBody>
      </p:sp>
      <p:sp>
        <p:nvSpPr>
          <p:cNvPr id="13" name="TextBox 12"/>
          <p:cNvSpPr txBox="1"/>
          <p:nvPr/>
        </p:nvSpPr>
        <p:spPr>
          <a:xfrm>
            <a:off x="822960" y="3931920"/>
            <a:ext cx="10545775" cy="2286000"/>
          </a:xfrm>
          <a:prstGeom prst="rect">
            <a:avLst/>
          </a:prstGeom>
          <a:noFill/>
        </p:spPr>
        <p:txBody>
          <a:bodyPr wrap="square" anchor="t" lIns="0" rIns="0" tIns="0" bIns="0">
            <a:spAutoFit/>
          </a:bodyPr>
          <a:lstStyle/>
          <a:p>
            <a:pPr algn="l">
              <a:lnSpc>
                <a:spcPct val="108000"/>
              </a:lnSpc>
              <a:spcBef>
                <a:spcPts val="0"/>
              </a:spcBef>
              <a:spcAft>
                <a:spcPts val="900"/>
              </a:spcAft>
            </a:pPr>
            <a:r>
              <a:rPr sz="1500" b="1" i="0">
                <a:solidFill>
                  <a:srgbClr val="1E88E5"/>
                </a:solidFill>
                <a:latin typeface="Segoe UI"/>
              </a:rPr>
              <a:t>▸  </a:t>
            </a:r>
            <a:r>
              <a:rPr sz="1500" b="0" i="0">
                <a:solidFill>
                  <a:srgbClr val="1E293B"/>
                </a:solidFill>
                <a:latin typeface="Segoe UI"/>
              </a:rPr>
              <a:t>Recorded video is passive — you watch, you don't manipulate, you don't truly grasp it.</a:t>
            </a:r>
          </a:p>
          <a:p>
            <a:pPr algn="l">
              <a:lnSpc>
                <a:spcPct val="108000"/>
              </a:lnSpc>
              <a:spcBef>
                <a:spcPts val="0"/>
              </a:spcBef>
              <a:spcAft>
                <a:spcPts val="900"/>
              </a:spcAft>
            </a:pPr>
            <a:r>
              <a:rPr sz="1500" b="1" i="0">
                <a:solidFill>
                  <a:srgbClr val="1E88E5"/>
                </a:solidFill>
                <a:latin typeface="Segoe UI"/>
              </a:rPr>
              <a:t>▸  </a:t>
            </a:r>
            <a:r>
              <a:rPr sz="1500" b="0" i="0">
                <a:solidFill>
                  <a:srgbClr val="1E293B"/>
                </a:solidFill>
                <a:latin typeface="Segoe UI"/>
              </a:rPr>
              <a:t>Open sandboxes (e.g. PhET) aren't exam-aligned, aren't in Indian context, and give no guided path to mastery.</a:t>
            </a:r>
          </a:p>
          <a:p>
            <a:pPr algn="l">
              <a:lnSpc>
                <a:spcPct val="108000"/>
              </a:lnSpc>
              <a:spcBef>
                <a:spcPts val="0"/>
              </a:spcBef>
              <a:spcAft>
                <a:spcPts val="900"/>
              </a:spcAft>
            </a:pPr>
            <a:r>
              <a:rPr sz="1500" b="1" i="0">
                <a:solidFill>
                  <a:srgbClr val="1E88E5"/>
                </a:solidFill>
                <a:latin typeface="Segoe UI"/>
              </a:rPr>
              <a:t>▸  </a:t>
            </a:r>
            <a:r>
              <a:rPr sz="1500" b="0" i="0">
                <a:solidFill>
                  <a:srgbClr val="1E293B"/>
                </a:solidFill>
                <a:latin typeface="Segoe UI"/>
              </a:rPr>
              <a:t>PhysicsWallah proved students pay — but it's </a:t>
            </a:r>
            <a:r>
              <a:rPr sz="1500" b="1" i="0">
                <a:solidFill>
                  <a:srgbClr val="1E293B"/>
                </a:solidFill>
                <a:latin typeface="Segoe UI"/>
              </a:rPr>
              <a:t>B2C; it competes with the institutes, it doesn't arm them.</a:t>
            </a:r>
          </a:p>
          <a:p>
            <a:pPr algn="l">
              <a:lnSpc>
                <a:spcPct val="108000"/>
              </a:lnSpc>
              <a:spcBef>
                <a:spcPts val="0"/>
              </a:spcBef>
              <a:spcAft>
                <a:spcPts val="0"/>
              </a:spcAft>
            </a:pPr>
            <a:r>
              <a:rPr sz="1500" b="1" i="0">
                <a:solidFill>
                  <a:srgbClr val="1E88E5"/>
                </a:solidFill>
                <a:latin typeface="Segoe UI"/>
              </a:rPr>
              <a:t>▸  </a:t>
            </a:r>
            <a:r>
              <a:rPr sz="1500" b="1" i="0">
                <a:solidFill>
                  <a:srgbClr val="1E88E5"/>
                </a:solidFill>
                <a:latin typeface="Segoe UI"/>
              </a:rPr>
              <a:t>The open lane: </a:t>
            </a:r>
            <a:r>
              <a:rPr sz="1500" b="0" i="0">
                <a:solidFill>
                  <a:srgbClr val="1E293B"/>
                </a:solidFill>
                <a:latin typeface="Segoe UI"/>
              </a:rPr>
              <a:t>a guided, exam-deep, Indian-context simulation layer the institutes can give their students.</a:t>
            </a:r>
          </a:p>
        </p:txBody>
      </p:sp>
      <p:sp>
        <p:nvSpPr>
          <p:cNvPr id="14" name="TextBox 13"/>
          <p:cNvSpPr txBox="1"/>
          <p:nvPr/>
        </p:nvSpPr>
        <p:spPr>
          <a:xfrm>
            <a:off x="822960" y="6053328"/>
            <a:ext cx="10545775" cy="320040"/>
          </a:xfrm>
          <a:prstGeom prst="rect">
            <a:avLst/>
          </a:prstGeom>
          <a:noFill/>
        </p:spPr>
        <p:txBody>
          <a:bodyPr wrap="square" anchor="t" lIns="0" rIns="0" tIns="0" bIns="0">
            <a:spAutoFit/>
          </a:bodyPr>
          <a:lstStyle/>
          <a:p>
            <a:pPr algn="l">
              <a:lnSpc>
                <a:spcPct val="105000"/>
              </a:lnSpc>
              <a:spcBef>
                <a:spcPts val="0"/>
              </a:spcBef>
              <a:spcAft>
                <a:spcPts val="0"/>
              </a:spcAft>
            </a:pPr>
            <a:r>
              <a:rPr sz="1000" b="0" i="1">
                <a:solidFill>
                  <a:srgbClr val="64748B"/>
                </a:solidFill>
                <a:latin typeface="Segoe UI"/>
              </a:rPr>
              <a:t>Sources: IMARC Group; Redseer / PhysicsWallah RHP (2025).</a:t>
            </a:r>
          </a:p>
        </p:txBody>
      </p:sp>
      <p:sp>
        <p:nvSpPr>
          <p:cNvPr id="15" name="TextBox 14"/>
          <p:cNvSpPr txBox="1"/>
          <p:nvPr/>
        </p:nvSpPr>
        <p:spPr>
          <a:xfrm>
            <a:off x="10911535" y="6419088"/>
            <a:ext cx="457200" cy="320040"/>
          </a:xfrm>
          <a:prstGeom prst="rect">
            <a:avLst/>
          </a:prstGeom>
          <a:noFill/>
        </p:spPr>
        <p:txBody>
          <a:bodyPr wrap="square" anchor="t" lIns="0" rIns="0" tIns="0" bIns="0">
            <a:spAutoFit/>
          </a:bodyPr>
          <a:lstStyle/>
          <a:p>
            <a:pPr algn="r">
              <a:lnSpc>
                <a:spcPct val="105000"/>
              </a:lnSpc>
              <a:spcBef>
                <a:spcPts val="0"/>
              </a:spcBef>
              <a:spcAft>
                <a:spcPts val="0"/>
              </a:spcAft>
            </a:pPr>
            <a:r>
              <a:rPr sz="1000" b="1" i="0">
                <a:solidFill>
                  <a:srgbClr val="64748B"/>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75488"/>
            <a:ext cx="10545775" cy="36576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1E88E5"/>
                </a:solidFill>
                <a:latin typeface="Segoe UI"/>
              </a:rPr>
              <a:t>03 · THE SOLUTION</a:t>
            </a:r>
          </a:p>
        </p:txBody>
      </p:sp>
      <p:sp>
        <p:nvSpPr>
          <p:cNvPr id="4" name="TextBox 3"/>
          <p:cNvSpPr txBox="1"/>
          <p:nvPr/>
        </p:nvSpPr>
        <p:spPr>
          <a:xfrm>
            <a:off x="822960" y="841248"/>
            <a:ext cx="10545775" cy="109728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1E293B"/>
                </a:solidFill>
                <a:latin typeface="Segoe UI"/>
              </a:rPr>
              <a:t>One concept. One simulation. Mastery in one viewing.</a:t>
            </a:r>
          </a:p>
        </p:txBody>
      </p:sp>
      <p:sp>
        <p:nvSpPr>
          <p:cNvPr id="5" name="Rectangle 4"/>
          <p:cNvSpPr/>
          <p:nvPr/>
        </p:nvSpPr>
        <p:spPr>
          <a:xfrm>
            <a:off x="822960" y="1755648"/>
            <a:ext cx="10545775"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19088"/>
            <a:ext cx="6400800" cy="320040"/>
          </a:xfrm>
          <a:prstGeom prst="rect">
            <a:avLst/>
          </a:prstGeom>
          <a:noFill/>
        </p:spPr>
        <p:txBody>
          <a:bodyPr wrap="square" anchor="t" lIns="0" rIns="0" tIns="0" bIns="0">
            <a:spAutoFit/>
          </a:bodyPr>
          <a:lstStyle/>
          <a:p>
            <a:pPr algn="l">
              <a:lnSpc>
                <a:spcPct val="105000"/>
              </a:lnSpc>
              <a:spcBef>
                <a:spcPts val="0"/>
              </a:spcBef>
              <a:spcAft>
                <a:spcPts val="0"/>
              </a:spcAft>
            </a:pPr>
            <a:r>
              <a:rPr sz="1000" b="1" i="0">
                <a:solidFill>
                  <a:srgbClr val="64748B"/>
                </a:solidFill>
                <a:latin typeface="Segoe UI"/>
              </a:rPr>
              <a:t>PhysicsMind</a:t>
            </a:r>
            <a:r>
              <a:rPr sz="1000" b="0" i="0">
                <a:solidFill>
                  <a:srgbClr val="64748B"/>
                </a:solidFill>
                <a:latin typeface="Segoe UI"/>
              </a:rPr>
              <a:t>   ·   A physics tutor that makes the concept click</a:t>
            </a:r>
          </a:p>
        </p:txBody>
      </p:sp>
      <p:sp>
        <p:nvSpPr>
          <p:cNvPr id="7" name="TextBox 6"/>
          <p:cNvSpPr txBox="1"/>
          <p:nvPr/>
        </p:nvSpPr>
        <p:spPr>
          <a:xfrm>
            <a:off x="822960" y="2057400"/>
            <a:ext cx="6400800" cy="3931920"/>
          </a:xfrm>
          <a:prstGeom prst="rect">
            <a:avLst/>
          </a:prstGeom>
          <a:noFill/>
        </p:spPr>
        <p:txBody>
          <a:bodyPr wrap="square" anchor="t" lIns="0" rIns="0" tIns="0" bIns="0">
            <a:spAutoFit/>
          </a:bodyPr>
          <a:lstStyle/>
          <a:p>
            <a:pPr algn="l">
              <a:lnSpc>
                <a:spcPct val="108000"/>
              </a:lnSpc>
              <a:spcBef>
                <a:spcPts val="0"/>
              </a:spcBef>
              <a:spcAft>
                <a:spcPts val="1200"/>
              </a:spcAft>
            </a:pPr>
            <a:r>
              <a:rPr sz="1500" b="1" i="0">
                <a:solidFill>
                  <a:srgbClr val="1E88E5"/>
                </a:solidFill>
                <a:latin typeface="Segoe UI"/>
              </a:rPr>
              <a:t>▸  </a:t>
            </a:r>
            <a:r>
              <a:rPr sz="1500" b="0" i="0">
                <a:solidFill>
                  <a:srgbClr val="1E293B"/>
                </a:solidFill>
                <a:latin typeface="Segoe UI"/>
              </a:rPr>
              <a:t>A growing library of “diamond” simulations — each teaches a single concept from zero to mastery.</a:t>
            </a:r>
          </a:p>
          <a:p>
            <a:pPr algn="l">
              <a:lnSpc>
                <a:spcPct val="108000"/>
              </a:lnSpc>
              <a:spcBef>
                <a:spcPts val="0"/>
              </a:spcBef>
              <a:spcAft>
                <a:spcPts val="1200"/>
              </a:spcAft>
            </a:pPr>
            <a:r>
              <a:rPr sz="1500" b="1" i="0">
                <a:solidFill>
                  <a:srgbClr val="1E88E5"/>
                </a:solidFill>
                <a:latin typeface="Segoe UI"/>
              </a:rPr>
              <a:t>▸  </a:t>
            </a:r>
            <a:r>
              <a:rPr sz="1500" b="0" i="0">
                <a:solidFill>
                  <a:srgbClr val="1E293B"/>
                </a:solidFill>
                <a:latin typeface="Segoe UI"/>
              </a:rPr>
              <a:t>“ChatGPT can </a:t>
            </a:r>
            <a:r>
              <a:rPr sz="1500" b="1" i="0">
                <a:solidFill>
                  <a:srgbClr val="1E293B"/>
                </a:solidFill>
                <a:latin typeface="Segoe UI"/>
              </a:rPr>
              <a:t>tell</a:t>
            </a:r>
            <a:r>
              <a:rPr sz="1500" b="0" i="0">
                <a:solidFill>
                  <a:srgbClr val="1E293B"/>
                </a:solidFill>
                <a:latin typeface="Segoe UI"/>
              </a:rPr>
              <a:t> you. PhysicsMind </a:t>
            </a:r>
            <a:r>
              <a:rPr sz="1500" b="1" i="0">
                <a:solidFill>
                  <a:srgbClr val="1E88E5"/>
                </a:solidFill>
                <a:latin typeface="Segoe UI"/>
              </a:rPr>
              <a:t>shows</a:t>
            </a:r>
            <a:r>
              <a:rPr sz="1500" b="0" i="0">
                <a:solidFill>
                  <a:srgbClr val="1E293B"/>
                </a:solidFill>
                <a:latin typeface="Segoe UI"/>
              </a:rPr>
              <a:t> you.”</a:t>
            </a:r>
            <a:r>
              <a:rPr sz="1500" b="0" i="0">
                <a:solidFill>
                  <a:srgbClr val="1E293B"/>
                </a:solidFill>
                <a:latin typeface="Segoe UI"/>
              </a:rPr>
              <a:t>  The student changes things and watches the physics respond.</a:t>
            </a:r>
          </a:p>
          <a:p>
            <a:pPr algn="l">
              <a:lnSpc>
                <a:spcPct val="108000"/>
              </a:lnSpc>
              <a:spcBef>
                <a:spcPts val="0"/>
              </a:spcBef>
              <a:spcAft>
                <a:spcPts val="1200"/>
              </a:spcAft>
            </a:pPr>
            <a:r>
              <a:rPr sz="1500" b="1" i="0">
                <a:solidFill>
                  <a:srgbClr val="1E88E5"/>
                </a:solidFill>
                <a:latin typeface="Segoe UI"/>
              </a:rPr>
              <a:t>▸  </a:t>
            </a:r>
            <a:r>
              <a:rPr sz="1500" b="0" i="0">
                <a:solidFill>
                  <a:srgbClr val="1E293B"/>
                </a:solidFill>
                <a:latin typeface="Segoe UI"/>
              </a:rPr>
              <a:t>Engineered so students understand on the first viewing — interactive, not a video.</a:t>
            </a:r>
          </a:p>
          <a:p>
            <a:pPr algn="l">
              <a:lnSpc>
                <a:spcPct val="108000"/>
              </a:lnSpc>
              <a:spcBef>
                <a:spcPts val="0"/>
              </a:spcBef>
              <a:spcAft>
                <a:spcPts val="0"/>
              </a:spcAft>
            </a:pPr>
            <a:r>
              <a:rPr sz="1500" b="1" i="0">
                <a:solidFill>
                  <a:srgbClr val="1E88E5"/>
                </a:solidFill>
                <a:latin typeface="Segoe UI"/>
              </a:rPr>
              <a:t>▸  </a:t>
            </a:r>
            <a:r>
              <a:rPr sz="1500" b="0" i="0">
                <a:solidFill>
                  <a:srgbClr val="1E293B"/>
                </a:solidFill>
                <a:latin typeface="Segoe UI"/>
              </a:rPr>
              <a:t>One mode, done excellently: </a:t>
            </a:r>
            <a:r>
              <a:rPr sz="1500" b="1" i="0">
                <a:solidFill>
                  <a:srgbClr val="1E88E5"/>
                </a:solidFill>
                <a:latin typeface="Segoe UI"/>
              </a:rPr>
              <a:t>conceptual mastery, authored to JEE/NEET depth.</a:t>
            </a:r>
            <a:r>
              <a:rPr sz="1500" b="0" i="0">
                <a:solidFill>
                  <a:srgbClr val="64748B"/>
                </a:solidFill>
                <a:latin typeface="Segoe UI"/>
              </a:rPr>
              <a:t>  (Exam shortcuts come later, for overseas.)</a:t>
            </a:r>
          </a:p>
        </p:txBody>
      </p:sp>
      <p:sp>
        <p:nvSpPr>
          <p:cNvPr id="8" name="Rounded Rectangle 7"/>
          <p:cNvSpPr/>
          <p:nvPr/>
        </p:nvSpPr>
        <p:spPr>
          <a:xfrm>
            <a:off x="7589520" y="2057400"/>
            <a:ext cx="3779215" cy="3611880"/>
          </a:xfrm>
          <a:prstGeom prst="roundRect">
            <a:avLst>
              <a:gd name="adj" fmla="val 5000"/>
            </a:avLst>
          </a:prstGeom>
          <a:solidFill>
            <a:srgbClr val="0A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09560" y="2377440"/>
            <a:ext cx="3139135" cy="3017520"/>
          </a:xfrm>
          <a:prstGeom prst="rect">
            <a:avLst/>
          </a:prstGeom>
          <a:noFill/>
        </p:spPr>
        <p:txBody>
          <a:bodyPr wrap="square" anchor="t" lIns="0" rIns="0" tIns="0" bIns="0">
            <a:spAutoFit/>
          </a:bodyPr>
          <a:lstStyle/>
          <a:p>
            <a:pPr algn="l">
              <a:lnSpc>
                <a:spcPct val="105000"/>
              </a:lnSpc>
              <a:spcBef>
                <a:spcPts val="0"/>
              </a:spcBef>
              <a:spcAft>
                <a:spcPts val="800"/>
              </a:spcAft>
            </a:pPr>
            <a:r>
              <a:rPr sz="1300" b="1" i="0">
                <a:solidFill>
                  <a:srgbClr val="4ADE80"/>
                </a:solidFill>
                <a:latin typeface="Segoe UI"/>
              </a:rPr>
              <a:t>● LIVE TODAY</a:t>
            </a:r>
          </a:p>
          <a:p>
            <a:pPr algn="l">
              <a:lnSpc>
                <a:spcPct val="105000"/>
              </a:lnSpc>
              <a:spcBef>
                <a:spcPts val="0"/>
              </a:spcBef>
              <a:spcAft>
                <a:spcPts val="800"/>
              </a:spcAft>
            </a:pPr>
            <a:r>
              <a:rPr sz="1900" b="1" i="0">
                <a:solidFill>
                  <a:srgbClr val="FFFFFF"/>
                </a:solidFill>
                <a:latin typeface="Segoe UI"/>
              </a:rPr>
              <a:t>Magnetic force on a moving charge</a:t>
            </a:r>
          </a:p>
          <a:p>
            <a:pPr algn="l">
              <a:lnSpc>
                <a:spcPct val="125000"/>
              </a:lnSpc>
              <a:spcBef>
                <a:spcPts val="0"/>
              </a:spcBef>
              <a:spcAft>
                <a:spcPts val="1000"/>
              </a:spcAft>
            </a:pPr>
            <a:r>
              <a:rPr sz="1400" b="0" i="0">
                <a:solidFill>
                  <a:srgbClr val="BBDBFB"/>
                </a:solidFill>
                <a:latin typeface="Segoe UI"/>
              </a:rPr>
              <a:t>A full 3D interactive simulation — 7 guided steps, the student drives it.</a:t>
            </a:r>
          </a:p>
          <a:p>
            <a:pPr algn="l">
              <a:lnSpc>
                <a:spcPct val="120000"/>
              </a:lnSpc>
              <a:spcBef>
                <a:spcPts val="0"/>
              </a:spcBef>
              <a:spcAft>
                <a:spcPts val="0"/>
              </a:spcAft>
            </a:pPr>
            <a:r>
              <a:rPr sz="1300" b="0" i="1">
                <a:solidFill>
                  <a:srgbClr val="93A4BC"/>
                </a:solidFill>
                <a:latin typeface="Segoe UI"/>
              </a:rPr>
              <a:t>Not a mock-up. I'll demo it live right now.</a:t>
            </a:r>
          </a:p>
        </p:txBody>
      </p:sp>
      <p:sp>
        <p:nvSpPr>
          <p:cNvPr id="10" name="TextBox 9"/>
          <p:cNvSpPr txBox="1"/>
          <p:nvPr/>
        </p:nvSpPr>
        <p:spPr>
          <a:xfrm>
            <a:off x="10911535" y="6419088"/>
            <a:ext cx="457200" cy="320040"/>
          </a:xfrm>
          <a:prstGeom prst="rect">
            <a:avLst/>
          </a:prstGeom>
          <a:noFill/>
        </p:spPr>
        <p:txBody>
          <a:bodyPr wrap="square" anchor="t" lIns="0" rIns="0" tIns="0" bIns="0">
            <a:spAutoFit/>
          </a:bodyPr>
          <a:lstStyle/>
          <a:p>
            <a:pPr algn="r">
              <a:lnSpc>
                <a:spcPct val="105000"/>
              </a:lnSpc>
              <a:spcBef>
                <a:spcPts val="0"/>
              </a:spcBef>
              <a:spcAft>
                <a:spcPts val="0"/>
              </a:spcAft>
            </a:pPr>
            <a:r>
              <a:rPr sz="1000" b="1" i="0">
                <a:solidFill>
                  <a:srgbClr val="64748B"/>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75488"/>
            <a:ext cx="10545775" cy="36576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1E88E5"/>
                </a:solidFill>
                <a:latin typeface="Segoe UI"/>
              </a:rPr>
              <a:t>04 · WHY WE WIN</a:t>
            </a:r>
          </a:p>
        </p:txBody>
      </p:sp>
      <p:sp>
        <p:nvSpPr>
          <p:cNvPr id="4" name="TextBox 3"/>
          <p:cNvSpPr txBox="1"/>
          <p:nvPr/>
        </p:nvSpPr>
        <p:spPr>
          <a:xfrm>
            <a:off x="822960" y="841248"/>
            <a:ext cx="10545775" cy="109728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1E293B"/>
                </a:solidFill>
                <a:latin typeface="Segoe UI"/>
              </a:rPr>
              <a:t>Cheap to serve. Built to compound.</a:t>
            </a:r>
          </a:p>
        </p:txBody>
      </p:sp>
      <p:sp>
        <p:nvSpPr>
          <p:cNvPr id="5" name="Rectangle 4"/>
          <p:cNvSpPr/>
          <p:nvPr/>
        </p:nvSpPr>
        <p:spPr>
          <a:xfrm>
            <a:off x="822960" y="1755648"/>
            <a:ext cx="10545775"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19088"/>
            <a:ext cx="6400800" cy="320040"/>
          </a:xfrm>
          <a:prstGeom prst="rect">
            <a:avLst/>
          </a:prstGeom>
          <a:noFill/>
        </p:spPr>
        <p:txBody>
          <a:bodyPr wrap="square" anchor="t" lIns="0" rIns="0" tIns="0" bIns="0">
            <a:spAutoFit/>
          </a:bodyPr>
          <a:lstStyle/>
          <a:p>
            <a:pPr algn="l">
              <a:lnSpc>
                <a:spcPct val="105000"/>
              </a:lnSpc>
              <a:spcBef>
                <a:spcPts val="0"/>
              </a:spcBef>
              <a:spcAft>
                <a:spcPts val="0"/>
              </a:spcAft>
            </a:pPr>
            <a:r>
              <a:rPr sz="1000" b="1" i="0">
                <a:solidFill>
                  <a:srgbClr val="64748B"/>
                </a:solidFill>
                <a:latin typeface="Segoe UI"/>
              </a:rPr>
              <a:t>PhysicsMind</a:t>
            </a:r>
            <a:r>
              <a:rPr sz="1000" b="0" i="0">
                <a:solidFill>
                  <a:srgbClr val="64748B"/>
                </a:solidFill>
                <a:latin typeface="Segoe UI"/>
              </a:rPr>
              <a:t>   ·   A physics tutor that makes the concept click</a:t>
            </a:r>
          </a:p>
        </p:txBody>
      </p:sp>
      <p:sp>
        <p:nvSpPr>
          <p:cNvPr id="7" name="TextBox 6"/>
          <p:cNvSpPr txBox="1"/>
          <p:nvPr/>
        </p:nvSpPr>
        <p:spPr>
          <a:xfrm>
            <a:off x="822960" y="2057400"/>
            <a:ext cx="10545775" cy="3931920"/>
          </a:xfrm>
          <a:prstGeom prst="rect">
            <a:avLst/>
          </a:prstGeom>
          <a:noFill/>
        </p:spPr>
        <p:txBody>
          <a:bodyPr wrap="square" anchor="t" lIns="0" rIns="0" tIns="0" bIns="0">
            <a:spAutoFit/>
          </a:bodyPr>
          <a:lstStyle/>
          <a:p>
            <a:pPr algn="l">
              <a:lnSpc>
                <a:spcPct val="108000"/>
              </a:lnSpc>
              <a:spcBef>
                <a:spcPts val="0"/>
              </a:spcBef>
              <a:spcAft>
                <a:spcPts val="1200"/>
              </a:spcAft>
            </a:pPr>
            <a:r>
              <a:rPr sz="1500" b="1" i="0">
                <a:solidFill>
                  <a:srgbClr val="1E88E5"/>
                </a:solidFill>
                <a:latin typeface="Segoe UI"/>
              </a:rPr>
              <a:t>▸  </a:t>
            </a:r>
            <a:r>
              <a:rPr sz="1500" b="1" i="0">
                <a:solidFill>
                  <a:srgbClr val="1E88E5"/>
                </a:solidFill>
                <a:latin typeface="Segoe UI"/>
              </a:rPr>
              <a:t>Near-zero cost to serve. </a:t>
            </a:r>
            <a:r>
              <a:rPr sz="1500" b="0" i="0">
                <a:solidFill>
                  <a:srgbClr val="1E293B"/>
                </a:solidFill>
                <a:latin typeface="Segoe UI"/>
              </a:rPr>
              <a:t>The engine is fixed; the content does the teaching. No AI runs at view-time — so one more student costs almost nothing.</a:t>
            </a:r>
          </a:p>
          <a:p>
            <a:pPr algn="l">
              <a:lnSpc>
                <a:spcPct val="108000"/>
              </a:lnSpc>
              <a:spcBef>
                <a:spcPts val="0"/>
              </a:spcBef>
              <a:spcAft>
                <a:spcPts val="1200"/>
              </a:spcAft>
            </a:pPr>
            <a:r>
              <a:rPr sz="1500" b="1" i="0">
                <a:solidFill>
                  <a:srgbClr val="1E88E5"/>
                </a:solidFill>
                <a:latin typeface="Segoe UI"/>
              </a:rPr>
              <a:t>▸  </a:t>
            </a:r>
            <a:r>
              <a:rPr sz="1500" b="1" i="0">
                <a:solidFill>
                  <a:srgbClr val="1E88E5"/>
                </a:solidFill>
                <a:latin typeface="Segoe UI"/>
              </a:rPr>
              <a:t>Every simulation compounds. </a:t>
            </a:r>
            <a:r>
              <a:rPr sz="1500" b="0" i="0">
                <a:solidFill>
                  <a:srgbClr val="1E293B"/>
                </a:solidFill>
                <a:latin typeface="Segoe UI"/>
              </a:rPr>
              <a:t>A growing, exam-aligned, Indian-context library a competitor would have to rebuild from zero.</a:t>
            </a:r>
          </a:p>
          <a:p>
            <a:pPr algn="l">
              <a:lnSpc>
                <a:spcPct val="108000"/>
              </a:lnSpc>
              <a:spcBef>
                <a:spcPts val="0"/>
              </a:spcBef>
              <a:spcAft>
                <a:spcPts val="1200"/>
              </a:spcAft>
            </a:pPr>
            <a:r>
              <a:rPr sz="1500" b="1" i="0">
                <a:solidFill>
                  <a:srgbClr val="1E88E5"/>
                </a:solidFill>
                <a:latin typeface="Segoe UI"/>
              </a:rPr>
              <a:t>▸  </a:t>
            </a:r>
            <a:r>
              <a:rPr sz="1500" b="1" i="0">
                <a:solidFill>
                  <a:srgbClr val="1E88E5"/>
                </a:solidFill>
                <a:latin typeface="Segoe UI"/>
              </a:rPr>
              <a:t>A data flywheel that turns on with the pilot. </a:t>
            </a:r>
            <a:r>
              <a:rPr sz="1500" b="0" i="0">
                <a:solidFill>
                  <a:srgbClr val="1E293B"/>
                </a:solidFill>
                <a:latin typeface="Segoe UI"/>
              </a:rPr>
              <a:t>Once students use it, we capture exactly where each one gets confused and improve the content every week — ground truth no one else has.</a:t>
            </a:r>
          </a:p>
          <a:p>
            <a:pPr algn="l">
              <a:lnSpc>
                <a:spcPct val="108000"/>
              </a:lnSpc>
              <a:spcBef>
                <a:spcPts val="0"/>
              </a:spcBef>
              <a:spcAft>
                <a:spcPts val="0"/>
              </a:spcAft>
            </a:pPr>
            <a:r>
              <a:rPr sz="1500" b="1" i="0">
                <a:solidFill>
                  <a:srgbClr val="1E88E5"/>
                </a:solidFill>
                <a:latin typeface="Segoe UI"/>
              </a:rPr>
              <a:t>▸  </a:t>
            </a:r>
            <a:r>
              <a:rPr sz="1500" b="1" i="0">
                <a:solidFill>
                  <a:srgbClr val="1E88E5"/>
                </a:solidFill>
                <a:latin typeface="Segoe UI"/>
              </a:rPr>
              <a:t>Made for India. </a:t>
            </a:r>
            <a:r>
              <a:rPr sz="1500" b="0" i="0">
                <a:solidFill>
                  <a:srgbClr val="1E293B"/>
                </a:solidFill>
                <a:latin typeface="Segoe UI"/>
              </a:rPr>
              <a:t>Anchors students recognise (a CRT screen, the aurora, BARC's cyclotron) — relatability no Western tool offers.</a:t>
            </a:r>
          </a:p>
        </p:txBody>
      </p:sp>
      <p:sp>
        <p:nvSpPr>
          <p:cNvPr id="8" name="TextBox 7"/>
          <p:cNvSpPr txBox="1"/>
          <p:nvPr/>
        </p:nvSpPr>
        <p:spPr>
          <a:xfrm>
            <a:off x="10911535" y="6419088"/>
            <a:ext cx="457200" cy="320040"/>
          </a:xfrm>
          <a:prstGeom prst="rect">
            <a:avLst/>
          </a:prstGeom>
          <a:noFill/>
        </p:spPr>
        <p:txBody>
          <a:bodyPr wrap="square" anchor="t" lIns="0" rIns="0" tIns="0" bIns="0">
            <a:spAutoFit/>
          </a:bodyPr>
          <a:lstStyle/>
          <a:p>
            <a:pPr algn="r">
              <a:lnSpc>
                <a:spcPct val="105000"/>
              </a:lnSpc>
              <a:spcBef>
                <a:spcPts val="0"/>
              </a:spcBef>
              <a:spcAft>
                <a:spcPts val="0"/>
              </a:spcAft>
            </a:pPr>
            <a:r>
              <a:rPr sz="1000" b="1" i="0">
                <a:solidFill>
                  <a:srgbClr val="64748B"/>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75488"/>
            <a:ext cx="10545775" cy="36576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1E88E5"/>
                </a:solidFill>
                <a:latin typeface="Segoe UI"/>
              </a:rPr>
              <a:t>05 · REVENUE MODEL</a:t>
            </a:r>
          </a:p>
        </p:txBody>
      </p:sp>
      <p:sp>
        <p:nvSpPr>
          <p:cNvPr id="4" name="TextBox 3"/>
          <p:cNvSpPr txBox="1"/>
          <p:nvPr/>
        </p:nvSpPr>
        <p:spPr>
          <a:xfrm>
            <a:off x="822960" y="841248"/>
            <a:ext cx="10545775" cy="109728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1E293B"/>
                </a:solidFill>
                <a:latin typeface="Segoe UI"/>
              </a:rPr>
              <a:t>Sold to institutes. Margins that scale.</a:t>
            </a:r>
          </a:p>
        </p:txBody>
      </p:sp>
      <p:sp>
        <p:nvSpPr>
          <p:cNvPr id="5" name="Rectangle 4"/>
          <p:cNvSpPr/>
          <p:nvPr/>
        </p:nvSpPr>
        <p:spPr>
          <a:xfrm>
            <a:off x="822960" y="1755648"/>
            <a:ext cx="10545775"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19088"/>
            <a:ext cx="6400800" cy="320040"/>
          </a:xfrm>
          <a:prstGeom prst="rect">
            <a:avLst/>
          </a:prstGeom>
          <a:noFill/>
        </p:spPr>
        <p:txBody>
          <a:bodyPr wrap="square" anchor="t" lIns="0" rIns="0" tIns="0" bIns="0">
            <a:spAutoFit/>
          </a:bodyPr>
          <a:lstStyle/>
          <a:p>
            <a:pPr algn="l">
              <a:lnSpc>
                <a:spcPct val="105000"/>
              </a:lnSpc>
              <a:spcBef>
                <a:spcPts val="0"/>
              </a:spcBef>
              <a:spcAft>
                <a:spcPts val="0"/>
              </a:spcAft>
            </a:pPr>
            <a:r>
              <a:rPr sz="1000" b="1" i="0">
                <a:solidFill>
                  <a:srgbClr val="64748B"/>
                </a:solidFill>
                <a:latin typeface="Segoe UI"/>
              </a:rPr>
              <a:t>PhysicsMind</a:t>
            </a:r>
            <a:r>
              <a:rPr sz="1000" b="0" i="0">
                <a:solidFill>
                  <a:srgbClr val="64748B"/>
                </a:solidFill>
                <a:latin typeface="Segoe UI"/>
              </a:rPr>
              <a:t>   ·   A physics tutor that makes the concept click</a:t>
            </a:r>
          </a:p>
        </p:txBody>
      </p:sp>
      <p:sp>
        <p:nvSpPr>
          <p:cNvPr id="7" name="TextBox 6"/>
          <p:cNvSpPr txBox="1"/>
          <p:nvPr/>
        </p:nvSpPr>
        <p:spPr>
          <a:xfrm>
            <a:off x="822960" y="2057400"/>
            <a:ext cx="6492240" cy="3931920"/>
          </a:xfrm>
          <a:prstGeom prst="rect">
            <a:avLst/>
          </a:prstGeom>
          <a:noFill/>
        </p:spPr>
        <p:txBody>
          <a:bodyPr wrap="square" anchor="t" lIns="0" rIns="0" tIns="0" bIns="0">
            <a:spAutoFit/>
          </a:bodyPr>
          <a:lstStyle/>
          <a:p>
            <a:pPr algn="l">
              <a:lnSpc>
                <a:spcPct val="108000"/>
              </a:lnSpc>
              <a:spcBef>
                <a:spcPts val="0"/>
              </a:spcBef>
              <a:spcAft>
                <a:spcPts val="1000"/>
              </a:spcAft>
            </a:pPr>
            <a:r>
              <a:rPr sz="1500" b="1" i="0">
                <a:solidFill>
                  <a:srgbClr val="1E88E5"/>
                </a:solidFill>
                <a:latin typeface="Segoe UI"/>
              </a:rPr>
              <a:t>▸  </a:t>
            </a:r>
            <a:r>
              <a:rPr sz="1500" b="0" i="0">
                <a:solidFill>
                  <a:srgbClr val="1E293B"/>
                </a:solidFill>
                <a:latin typeface="Segoe UI"/>
              </a:rPr>
              <a:t>Subscription, per academic year — </a:t>
            </a:r>
            <a:r>
              <a:rPr sz="1500" b="1" i="0">
                <a:solidFill>
                  <a:srgbClr val="1E293B"/>
                </a:solidFill>
                <a:latin typeface="Segoe UI"/>
              </a:rPr>
              <a:t>sold B2B / B2B2C to institutes &amp; tutors.</a:t>
            </a:r>
          </a:p>
          <a:p>
            <a:pPr algn="l">
              <a:lnSpc>
                <a:spcPct val="108000"/>
              </a:lnSpc>
              <a:spcBef>
                <a:spcPts val="0"/>
              </a:spcBef>
              <a:spcAft>
                <a:spcPts val="400"/>
              </a:spcAft>
            </a:pPr>
            <a:r>
              <a:rPr sz="1500" b="1" i="0">
                <a:solidFill>
                  <a:srgbClr val="1E88E5"/>
                </a:solidFill>
                <a:latin typeface="Segoe UI"/>
              </a:rPr>
              <a:t>▸  </a:t>
            </a:r>
            <a:r>
              <a:rPr sz="1500" b="0" i="0">
                <a:solidFill>
                  <a:srgbClr val="1E293B"/>
                </a:solidFill>
                <a:latin typeface="Segoe UI"/>
              </a:rPr>
              <a:t>Pricing per student / year:</a:t>
            </a:r>
          </a:p>
          <a:p>
            <a:pPr algn="l">
              <a:lnSpc>
                <a:spcPct val="108000"/>
              </a:lnSpc>
              <a:spcBef>
                <a:spcPts val="0"/>
              </a:spcBef>
              <a:spcAft>
                <a:spcPts val="400"/>
              </a:spcAft>
            </a:pPr>
            <a:r>
              <a:rPr sz="1500" b="1" i="0">
                <a:solidFill>
                  <a:srgbClr val="64748B"/>
                </a:solidFill>
                <a:latin typeface="Segoe UI"/>
              </a:rPr>
              <a:t>–  </a:t>
            </a:r>
            <a:r>
              <a:rPr sz="1500" b="0" i="0">
                <a:solidFill>
                  <a:srgbClr val="64748B"/>
                </a:solidFill>
                <a:latin typeface="Segoe UI"/>
              </a:rPr>
              <a:t>Board institutes:  ₹100–200</a:t>
            </a:r>
          </a:p>
          <a:p>
            <a:pPr algn="l">
              <a:lnSpc>
                <a:spcPct val="108000"/>
              </a:lnSpc>
              <a:spcBef>
                <a:spcPts val="0"/>
              </a:spcBef>
              <a:spcAft>
                <a:spcPts val="1000"/>
              </a:spcAft>
            </a:pPr>
            <a:r>
              <a:rPr sz="1500" b="1" i="0">
                <a:solidFill>
                  <a:srgbClr val="64748B"/>
                </a:solidFill>
                <a:latin typeface="Segoe UI"/>
              </a:rPr>
              <a:t>–  </a:t>
            </a:r>
            <a:r>
              <a:rPr sz="1500" b="0" i="0">
                <a:solidFill>
                  <a:srgbClr val="64748B"/>
                </a:solidFill>
                <a:latin typeface="Segoe UI"/>
              </a:rPr>
              <a:t>Integrated JEE/NEET institutes:  ₹200–400</a:t>
            </a:r>
          </a:p>
          <a:p>
            <a:pPr algn="l">
              <a:lnSpc>
                <a:spcPct val="108000"/>
              </a:lnSpc>
              <a:spcBef>
                <a:spcPts val="0"/>
              </a:spcBef>
              <a:spcAft>
                <a:spcPts val="1000"/>
              </a:spcAft>
            </a:pPr>
            <a:r>
              <a:rPr sz="1500" b="1" i="0">
                <a:solidFill>
                  <a:srgbClr val="1E88E5"/>
                </a:solidFill>
                <a:latin typeface="Segoe UI"/>
              </a:rPr>
              <a:t>▸  </a:t>
            </a:r>
            <a:r>
              <a:rPr sz="1500" b="1" i="0">
                <a:solidFill>
                  <a:srgbClr val="1E293B"/>
                </a:solidFill>
                <a:latin typeface="Segoe UI"/>
              </a:rPr>
              <a:t>White-label: </a:t>
            </a:r>
            <a:r>
              <a:rPr sz="1500" b="0" i="0">
                <a:solidFill>
                  <a:srgbClr val="1E293B"/>
                </a:solidFill>
                <a:latin typeface="Segoe UI"/>
              </a:rPr>
              <a:t>co-brand “powered by PhysicsMind” by default; </a:t>
            </a:r>
            <a:r>
              <a:rPr sz="1500" b="1" i="0">
                <a:solidFill>
                  <a:srgbClr val="1E88E5"/>
                </a:solidFill>
                <a:latin typeface="Segoe UI"/>
              </a:rPr>
              <a:t>+20–30% to put only their name on it.</a:t>
            </a:r>
          </a:p>
          <a:p>
            <a:pPr algn="l">
              <a:lnSpc>
                <a:spcPct val="108000"/>
              </a:lnSpc>
              <a:spcBef>
                <a:spcPts val="0"/>
              </a:spcBef>
              <a:spcAft>
                <a:spcPts val="0"/>
              </a:spcAft>
            </a:pPr>
            <a:r>
              <a:rPr sz="1500" b="1" i="0">
                <a:solidFill>
                  <a:srgbClr val="1E88E5"/>
                </a:solidFill>
                <a:latin typeface="Segoe UI"/>
              </a:rPr>
              <a:t>▸  </a:t>
            </a:r>
            <a:r>
              <a:rPr sz="1500" b="1" i="0">
                <a:solidFill>
                  <a:srgbClr val="1E293B"/>
                </a:solidFill>
                <a:latin typeface="Segoe UI"/>
              </a:rPr>
              <a:t>The market: </a:t>
            </a:r>
            <a:r>
              <a:rPr sz="1500" b="0" i="0">
                <a:solidFill>
                  <a:srgbClr val="1E293B"/>
                </a:solidFill>
                <a:latin typeface="Segoe UI"/>
              </a:rPr>
              <a:t>~38 lakh aspirants a year, online &lt;2% — wide open.</a:t>
            </a:r>
          </a:p>
        </p:txBody>
      </p:sp>
      <p:sp>
        <p:nvSpPr>
          <p:cNvPr id="8" name="Rounded Rectangle 7"/>
          <p:cNvSpPr/>
          <p:nvPr/>
        </p:nvSpPr>
        <p:spPr>
          <a:xfrm>
            <a:off x="7680960" y="2057400"/>
            <a:ext cx="3687775" cy="2103120"/>
          </a:xfrm>
          <a:prstGeom prst="roundRect">
            <a:avLst>
              <a:gd name="adj" fmla="val 5000"/>
            </a:avLst>
          </a:prstGeom>
          <a:solidFill>
            <a:srgbClr val="E7F1FB"/>
          </a:solidFill>
          <a:ln w="12700">
            <a:solidFill>
              <a:srgbClr val="1E88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1000" y="2350008"/>
            <a:ext cx="3047695" cy="1554480"/>
          </a:xfrm>
          <a:prstGeom prst="rect">
            <a:avLst/>
          </a:prstGeom>
          <a:noFill/>
        </p:spPr>
        <p:txBody>
          <a:bodyPr wrap="square" anchor="ctr" lIns="0" rIns="0" tIns="0" bIns="0">
            <a:spAutoFit/>
          </a:bodyPr>
          <a:lstStyle/>
          <a:p>
            <a:pPr algn="l">
              <a:lnSpc>
                <a:spcPct val="90000"/>
              </a:lnSpc>
              <a:spcBef>
                <a:spcPts val="0"/>
              </a:spcBef>
              <a:spcAft>
                <a:spcPts val="200"/>
              </a:spcAft>
            </a:pPr>
            <a:r>
              <a:rPr sz="5000" b="1" i="0">
                <a:solidFill>
                  <a:srgbClr val="1E88E5"/>
                </a:solidFill>
                <a:latin typeface="Segoe UI"/>
              </a:rPr>
              <a:t>85–90%</a:t>
            </a:r>
          </a:p>
          <a:p>
            <a:pPr algn="l">
              <a:lnSpc>
                <a:spcPct val="105000"/>
              </a:lnSpc>
              <a:spcBef>
                <a:spcPts val="0"/>
              </a:spcBef>
              <a:spcAft>
                <a:spcPts val="0"/>
              </a:spcAft>
            </a:pPr>
            <a:r>
              <a:rPr sz="1500" b="1" i="0">
                <a:solidFill>
                  <a:srgbClr val="1E293B"/>
                </a:solidFill>
                <a:latin typeface="Segoe UI"/>
              </a:rPr>
              <a:t>gross margin — software economics</a:t>
            </a:r>
          </a:p>
        </p:txBody>
      </p:sp>
      <p:sp>
        <p:nvSpPr>
          <p:cNvPr id="10" name="TextBox 9"/>
          <p:cNvSpPr txBox="1"/>
          <p:nvPr/>
        </p:nvSpPr>
        <p:spPr>
          <a:xfrm>
            <a:off x="7680960" y="4389120"/>
            <a:ext cx="3687775" cy="1188720"/>
          </a:xfrm>
          <a:prstGeom prst="rect">
            <a:avLst/>
          </a:prstGeom>
          <a:noFill/>
        </p:spPr>
        <p:txBody>
          <a:bodyPr wrap="square" anchor="t" lIns="0" rIns="0" tIns="0" bIns="0">
            <a:spAutoFit/>
          </a:bodyPr>
          <a:lstStyle/>
          <a:p>
            <a:pPr algn="l">
              <a:lnSpc>
                <a:spcPct val="130000"/>
              </a:lnSpc>
              <a:spcBef>
                <a:spcPts val="0"/>
              </a:spcBef>
              <a:spcAft>
                <a:spcPts val="0"/>
              </a:spcAft>
            </a:pPr>
            <a:r>
              <a:rPr sz="1300" b="0" i="0">
                <a:solidFill>
                  <a:srgbClr val="64748B"/>
                </a:solidFill>
                <a:latin typeface="Segoe UI"/>
              </a:rPr>
              <a:t>Example: 10 integrated institutes × 2,000 students × ₹300/yr  =  </a:t>
            </a:r>
            <a:r>
              <a:rPr sz="1300" b="1" i="0">
                <a:solidFill>
                  <a:srgbClr val="1E293B"/>
                </a:solidFill>
                <a:latin typeface="Segoe UI"/>
              </a:rPr>
              <a:t>₹60 lakh / year</a:t>
            </a:r>
            <a:r>
              <a:rPr sz="1300" b="0" i="0">
                <a:solidFill>
                  <a:srgbClr val="64748B"/>
                </a:solidFill>
                <a:latin typeface="Segoe UI"/>
              </a:rPr>
              <a:t>  at near-zero serving cost.</a:t>
            </a:r>
          </a:p>
        </p:txBody>
      </p:sp>
      <p:sp>
        <p:nvSpPr>
          <p:cNvPr id="11" name="TextBox 10"/>
          <p:cNvSpPr txBox="1"/>
          <p:nvPr/>
        </p:nvSpPr>
        <p:spPr>
          <a:xfrm>
            <a:off x="10911535" y="6419088"/>
            <a:ext cx="457200" cy="320040"/>
          </a:xfrm>
          <a:prstGeom prst="rect">
            <a:avLst/>
          </a:prstGeom>
          <a:noFill/>
        </p:spPr>
        <p:txBody>
          <a:bodyPr wrap="square" anchor="t" lIns="0" rIns="0" tIns="0" bIns="0">
            <a:spAutoFit/>
          </a:bodyPr>
          <a:lstStyle/>
          <a:p>
            <a:pPr algn="r">
              <a:lnSpc>
                <a:spcPct val="105000"/>
              </a:lnSpc>
              <a:spcBef>
                <a:spcPts val="0"/>
              </a:spcBef>
              <a:spcAft>
                <a:spcPts val="0"/>
              </a:spcAft>
            </a:pPr>
            <a:r>
              <a:rPr sz="1000" b="1" i="0">
                <a:solidFill>
                  <a:srgbClr val="64748B"/>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75488"/>
            <a:ext cx="10545775" cy="36576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1E88E5"/>
                </a:solidFill>
                <a:latin typeface="Segoe UI"/>
              </a:rPr>
              <a:t>06 · HOW WE BUILD</a:t>
            </a:r>
          </a:p>
        </p:txBody>
      </p:sp>
      <p:sp>
        <p:nvSpPr>
          <p:cNvPr id="4" name="TextBox 3"/>
          <p:cNvSpPr txBox="1"/>
          <p:nvPr/>
        </p:nvSpPr>
        <p:spPr>
          <a:xfrm>
            <a:off x="822960" y="841248"/>
            <a:ext cx="10545775" cy="109728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1E293B"/>
                </a:solidFill>
                <a:latin typeface="Segoe UI"/>
              </a:rPr>
              <a:t>Honest about our one bottleneck: pace.</a:t>
            </a:r>
          </a:p>
        </p:txBody>
      </p:sp>
      <p:sp>
        <p:nvSpPr>
          <p:cNvPr id="5" name="Rectangle 4"/>
          <p:cNvSpPr/>
          <p:nvPr/>
        </p:nvSpPr>
        <p:spPr>
          <a:xfrm>
            <a:off x="822960" y="1755648"/>
            <a:ext cx="10545775"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19088"/>
            <a:ext cx="6400800" cy="320040"/>
          </a:xfrm>
          <a:prstGeom prst="rect">
            <a:avLst/>
          </a:prstGeom>
          <a:noFill/>
        </p:spPr>
        <p:txBody>
          <a:bodyPr wrap="square" anchor="t" lIns="0" rIns="0" tIns="0" bIns="0">
            <a:spAutoFit/>
          </a:bodyPr>
          <a:lstStyle/>
          <a:p>
            <a:pPr algn="l">
              <a:lnSpc>
                <a:spcPct val="105000"/>
              </a:lnSpc>
              <a:spcBef>
                <a:spcPts val="0"/>
              </a:spcBef>
              <a:spcAft>
                <a:spcPts val="0"/>
              </a:spcAft>
            </a:pPr>
            <a:r>
              <a:rPr sz="1000" b="1" i="0">
                <a:solidFill>
                  <a:srgbClr val="64748B"/>
                </a:solidFill>
                <a:latin typeface="Segoe UI"/>
              </a:rPr>
              <a:t>PhysicsMind</a:t>
            </a:r>
            <a:r>
              <a:rPr sz="1000" b="0" i="0">
                <a:solidFill>
                  <a:srgbClr val="64748B"/>
                </a:solidFill>
                <a:latin typeface="Segoe UI"/>
              </a:rPr>
              <a:t>   ·   A physics tutor that makes the concept click</a:t>
            </a:r>
          </a:p>
        </p:txBody>
      </p:sp>
      <p:sp>
        <p:nvSpPr>
          <p:cNvPr id="7" name="Rounded Rectangle 6"/>
          <p:cNvSpPr/>
          <p:nvPr/>
        </p:nvSpPr>
        <p:spPr>
          <a:xfrm>
            <a:off x="822960" y="2057400"/>
            <a:ext cx="3332378" cy="13716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 y="2221992"/>
            <a:ext cx="2930042" cy="1042416"/>
          </a:xfrm>
          <a:prstGeom prst="rect">
            <a:avLst/>
          </a:prstGeom>
          <a:noFill/>
        </p:spPr>
        <p:txBody>
          <a:bodyPr wrap="square" anchor="ctr" lIns="0" rIns="0" tIns="0" bIns="0">
            <a:spAutoFit/>
          </a:bodyPr>
          <a:lstStyle/>
          <a:p>
            <a:pPr algn="l">
              <a:lnSpc>
                <a:spcPct val="95000"/>
              </a:lnSpc>
              <a:spcBef>
                <a:spcPts val="0"/>
              </a:spcBef>
              <a:spcAft>
                <a:spcPts val="400"/>
              </a:spcAft>
            </a:pPr>
            <a:r>
              <a:rPr sz="2800" b="1" i="0">
                <a:solidFill>
                  <a:srgbClr val="F57C00"/>
                </a:solidFill>
                <a:latin typeface="Segoe UI"/>
              </a:rPr>
              <a:t>~10 days</a:t>
            </a:r>
          </a:p>
          <a:p>
            <a:pPr algn="l">
              <a:lnSpc>
                <a:spcPct val="105000"/>
              </a:lnSpc>
              <a:spcBef>
                <a:spcPts val="0"/>
              </a:spcBef>
              <a:spcAft>
                <a:spcPts val="0"/>
              </a:spcAft>
            </a:pPr>
            <a:r>
              <a:rPr sz="1250" b="0" i="0">
                <a:solidFill>
                  <a:srgbClr val="64748B"/>
                </a:solidFill>
                <a:latin typeface="Segoe UI"/>
              </a:rPr>
              <a:t>to build one quality simulation — today</a:t>
            </a:r>
          </a:p>
        </p:txBody>
      </p:sp>
      <p:sp>
        <p:nvSpPr>
          <p:cNvPr id="9" name="Rounded Rectangle 8"/>
          <p:cNvSpPr/>
          <p:nvPr/>
        </p:nvSpPr>
        <p:spPr>
          <a:xfrm>
            <a:off x="4429658" y="2057400"/>
            <a:ext cx="3332378" cy="13716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0826" y="2221992"/>
            <a:ext cx="2930042" cy="1042416"/>
          </a:xfrm>
          <a:prstGeom prst="rect">
            <a:avLst/>
          </a:prstGeom>
          <a:noFill/>
        </p:spPr>
        <p:txBody>
          <a:bodyPr wrap="square" anchor="ctr" lIns="0" rIns="0" tIns="0" bIns="0">
            <a:spAutoFit/>
          </a:bodyPr>
          <a:lstStyle/>
          <a:p>
            <a:pPr algn="l">
              <a:lnSpc>
                <a:spcPct val="95000"/>
              </a:lnSpc>
              <a:spcBef>
                <a:spcPts val="0"/>
              </a:spcBef>
              <a:spcAft>
                <a:spcPts val="400"/>
              </a:spcAft>
            </a:pPr>
            <a:r>
              <a:rPr sz="2600" b="1" i="0">
                <a:solidFill>
                  <a:srgbClr val="1E88E5"/>
                </a:solidFill>
                <a:latin typeface="Segoe UI"/>
              </a:rPr>
              <a:t>~3–5 days</a:t>
            </a:r>
          </a:p>
          <a:p>
            <a:pPr algn="l">
              <a:lnSpc>
                <a:spcPct val="105000"/>
              </a:lnSpc>
              <a:spcBef>
                <a:spcPts val="0"/>
              </a:spcBef>
              <a:spcAft>
                <a:spcPts val="0"/>
              </a:spcAft>
            </a:pPr>
            <a:r>
              <a:rPr sz="1250" b="0" i="0">
                <a:solidFill>
                  <a:srgbClr val="64748B"/>
                </a:solidFill>
                <a:latin typeface="Segoe UI"/>
              </a:rPr>
              <a:t>once the reusable parts exist (it speeds up)</a:t>
            </a:r>
          </a:p>
        </p:txBody>
      </p:sp>
      <p:sp>
        <p:nvSpPr>
          <p:cNvPr id="11" name="Rounded Rectangle 10"/>
          <p:cNvSpPr/>
          <p:nvPr/>
        </p:nvSpPr>
        <p:spPr>
          <a:xfrm>
            <a:off x="8036356" y="2057400"/>
            <a:ext cx="3332378" cy="1371600"/>
          </a:xfrm>
          <a:prstGeom prst="roundRect">
            <a:avLst>
              <a:gd name="adj" fmla="val 6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37524" y="2221992"/>
            <a:ext cx="2930042" cy="1042416"/>
          </a:xfrm>
          <a:prstGeom prst="rect">
            <a:avLst/>
          </a:prstGeom>
          <a:noFill/>
        </p:spPr>
        <p:txBody>
          <a:bodyPr wrap="square" anchor="ctr" lIns="0" rIns="0" tIns="0" bIns="0">
            <a:spAutoFit/>
          </a:bodyPr>
          <a:lstStyle/>
          <a:p>
            <a:pPr algn="l">
              <a:lnSpc>
                <a:spcPct val="95000"/>
              </a:lnSpc>
              <a:spcBef>
                <a:spcPts val="0"/>
              </a:spcBef>
              <a:spcAft>
                <a:spcPts val="400"/>
              </a:spcAft>
            </a:pPr>
            <a:r>
              <a:rPr sz="2800" b="1" i="0">
                <a:solidFill>
                  <a:srgbClr val="1B9E5A"/>
                </a:solidFill>
                <a:latin typeface="Segoe UI"/>
              </a:rPr>
              <a:t>forever</a:t>
            </a:r>
          </a:p>
          <a:p>
            <a:pPr algn="l">
              <a:lnSpc>
                <a:spcPct val="105000"/>
              </a:lnSpc>
              <a:spcBef>
                <a:spcPts val="0"/>
              </a:spcBef>
              <a:spcAft>
                <a:spcPts val="0"/>
              </a:spcAft>
            </a:pPr>
            <a:r>
              <a:rPr sz="1250" b="0" i="0">
                <a:solidFill>
                  <a:srgbClr val="64748B"/>
                </a:solidFill>
                <a:latin typeface="Segoe UI"/>
              </a:rPr>
              <a:t>it keeps adapting to students (the moat)</a:t>
            </a:r>
          </a:p>
        </p:txBody>
      </p:sp>
      <p:sp>
        <p:nvSpPr>
          <p:cNvPr id="13" name="TextBox 12"/>
          <p:cNvSpPr txBox="1"/>
          <p:nvPr/>
        </p:nvSpPr>
        <p:spPr>
          <a:xfrm>
            <a:off x="822960" y="3657600"/>
            <a:ext cx="10545775" cy="2286000"/>
          </a:xfrm>
          <a:prstGeom prst="rect">
            <a:avLst/>
          </a:prstGeom>
          <a:noFill/>
        </p:spPr>
        <p:txBody>
          <a:bodyPr wrap="square" anchor="t" lIns="0" rIns="0" tIns="0" bIns="0">
            <a:spAutoFit/>
          </a:bodyPr>
          <a:lstStyle/>
          <a:p>
            <a:pPr algn="l">
              <a:lnSpc>
                <a:spcPct val="108000"/>
              </a:lnSpc>
              <a:spcBef>
                <a:spcPts val="0"/>
              </a:spcBef>
              <a:spcAft>
                <a:spcPts val="1000"/>
              </a:spcAft>
            </a:pPr>
            <a:r>
              <a:rPr sz="1500" b="1" i="0">
                <a:solidFill>
                  <a:srgbClr val="1E88E5"/>
                </a:solidFill>
                <a:latin typeface="Segoe UI"/>
              </a:rPr>
              <a:t>▸  </a:t>
            </a:r>
            <a:r>
              <a:rPr sz="1500" b="0" i="0">
                <a:solidFill>
                  <a:srgbClr val="1E293B"/>
                </a:solidFill>
                <a:latin typeface="Segoe UI"/>
              </a:rPr>
              <a:t>Each simulation: design → build → put it in front of students → adapt to their feedback. ~10 days at first.</a:t>
            </a:r>
          </a:p>
          <a:p>
            <a:pPr algn="l">
              <a:lnSpc>
                <a:spcPct val="108000"/>
              </a:lnSpc>
              <a:spcBef>
                <a:spcPts val="0"/>
              </a:spcBef>
              <a:spcAft>
                <a:spcPts val="1000"/>
              </a:spcAft>
            </a:pPr>
            <a:r>
              <a:rPr sz="1500" b="1" i="0">
                <a:solidFill>
                  <a:srgbClr val="1E88E5"/>
                </a:solidFill>
                <a:latin typeface="Segoe UI"/>
              </a:rPr>
              <a:t>▸  </a:t>
            </a:r>
            <a:r>
              <a:rPr sz="1500" b="0" i="0">
                <a:solidFill>
                  <a:srgbClr val="1E293B"/>
                </a:solidFill>
                <a:latin typeface="Segoe UI"/>
              </a:rPr>
              <a:t>It gets faster — the first sims in a chapter build reusable parts, so the rest drop to a few days.</a:t>
            </a:r>
          </a:p>
          <a:p>
            <a:pPr algn="l">
              <a:lnSpc>
                <a:spcPct val="108000"/>
              </a:lnSpc>
              <a:spcBef>
                <a:spcPts val="0"/>
              </a:spcBef>
              <a:spcAft>
                <a:spcPts val="1000"/>
              </a:spcAft>
            </a:pPr>
            <a:r>
              <a:rPr sz="1500" b="1" i="0">
                <a:solidFill>
                  <a:srgbClr val="1E88E5"/>
                </a:solidFill>
                <a:latin typeface="Segoe UI"/>
              </a:rPr>
              <a:t>▸  </a:t>
            </a:r>
            <a:r>
              <a:rPr sz="1500" b="0" i="0">
                <a:solidFill>
                  <a:srgbClr val="1E293B"/>
                </a:solidFill>
                <a:latin typeface="Segoe UI"/>
              </a:rPr>
              <a:t>Then it never stops improving: </a:t>
            </a:r>
            <a:r>
              <a:rPr sz="1500" b="0" i="0">
                <a:solidFill>
                  <a:srgbClr val="1E293B"/>
                </a:solidFill>
                <a:latin typeface="Segoe UI"/>
              </a:rPr>
              <a:t>90% stays, small tweaks adapt it to students for years. That continuous adaptation is the moat — cheap to maintain, impossible to copy.</a:t>
            </a:r>
          </a:p>
          <a:p>
            <a:pPr algn="l">
              <a:lnSpc>
                <a:spcPct val="108000"/>
              </a:lnSpc>
              <a:spcBef>
                <a:spcPts val="0"/>
              </a:spcBef>
              <a:spcAft>
                <a:spcPts val="0"/>
              </a:spcAft>
            </a:pPr>
            <a:r>
              <a:rPr sz="1500" b="1" i="0">
                <a:solidFill>
                  <a:srgbClr val="1E88E5"/>
                </a:solidFill>
                <a:latin typeface="Segoe UI"/>
              </a:rPr>
              <a:t>▸  </a:t>
            </a:r>
            <a:r>
              <a:rPr sz="1500" b="1" i="0">
                <a:solidFill>
                  <a:srgbClr val="1E293B"/>
                </a:solidFill>
                <a:latin typeface="Segoe UI"/>
              </a:rPr>
              <a:t>The honest truth: </a:t>
            </a:r>
            <a:r>
              <a:rPr sz="1500" b="0" i="0">
                <a:solidFill>
                  <a:srgbClr val="1E293B"/>
                </a:solidFill>
                <a:latin typeface="Segoe UI"/>
              </a:rPr>
              <a:t>our bottleneck is content velocity — how fast we author quality sims — not market demand.</a:t>
            </a:r>
          </a:p>
        </p:txBody>
      </p:sp>
      <p:sp>
        <p:nvSpPr>
          <p:cNvPr id="14" name="TextBox 13"/>
          <p:cNvSpPr txBox="1"/>
          <p:nvPr/>
        </p:nvSpPr>
        <p:spPr>
          <a:xfrm>
            <a:off x="10911535" y="6419088"/>
            <a:ext cx="457200" cy="320040"/>
          </a:xfrm>
          <a:prstGeom prst="rect">
            <a:avLst/>
          </a:prstGeom>
          <a:noFill/>
        </p:spPr>
        <p:txBody>
          <a:bodyPr wrap="square" anchor="t" lIns="0" rIns="0" tIns="0" bIns="0">
            <a:spAutoFit/>
          </a:bodyPr>
          <a:lstStyle/>
          <a:p>
            <a:pPr algn="r">
              <a:lnSpc>
                <a:spcPct val="105000"/>
              </a:lnSpc>
              <a:spcBef>
                <a:spcPts val="0"/>
              </a:spcBef>
              <a:spcAft>
                <a:spcPts val="0"/>
              </a:spcAft>
            </a:pPr>
            <a:r>
              <a:rPr sz="1000" b="1" i="0">
                <a:solidFill>
                  <a:srgbClr val="64748B"/>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75488"/>
            <a:ext cx="10545775" cy="36576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1E88E5"/>
                </a:solidFill>
                <a:latin typeface="Segoe UI"/>
              </a:rPr>
              <a:t>07 · WHY A TEAM</a:t>
            </a:r>
          </a:p>
        </p:txBody>
      </p:sp>
      <p:sp>
        <p:nvSpPr>
          <p:cNvPr id="4" name="TextBox 3"/>
          <p:cNvSpPr txBox="1"/>
          <p:nvPr/>
        </p:nvSpPr>
        <p:spPr>
          <a:xfrm>
            <a:off x="822960" y="841248"/>
            <a:ext cx="10545775" cy="109728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1E293B"/>
                </a:solidFill>
                <a:latin typeface="Segoe UI"/>
              </a:rPr>
              <a:t>Two of us prove it. A team scales it.</a:t>
            </a:r>
          </a:p>
        </p:txBody>
      </p:sp>
      <p:sp>
        <p:nvSpPr>
          <p:cNvPr id="5" name="Rectangle 4"/>
          <p:cNvSpPr/>
          <p:nvPr/>
        </p:nvSpPr>
        <p:spPr>
          <a:xfrm>
            <a:off x="822960" y="1755648"/>
            <a:ext cx="10545775"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19088"/>
            <a:ext cx="6400800" cy="320040"/>
          </a:xfrm>
          <a:prstGeom prst="rect">
            <a:avLst/>
          </a:prstGeom>
          <a:noFill/>
        </p:spPr>
        <p:txBody>
          <a:bodyPr wrap="square" anchor="t" lIns="0" rIns="0" tIns="0" bIns="0">
            <a:spAutoFit/>
          </a:bodyPr>
          <a:lstStyle/>
          <a:p>
            <a:pPr algn="l">
              <a:lnSpc>
                <a:spcPct val="105000"/>
              </a:lnSpc>
              <a:spcBef>
                <a:spcPts val="0"/>
              </a:spcBef>
              <a:spcAft>
                <a:spcPts val="0"/>
              </a:spcAft>
            </a:pPr>
            <a:r>
              <a:rPr sz="1000" b="1" i="0">
                <a:solidFill>
                  <a:srgbClr val="64748B"/>
                </a:solidFill>
                <a:latin typeface="Segoe UI"/>
              </a:rPr>
              <a:t>PhysicsMind</a:t>
            </a:r>
            <a:r>
              <a:rPr sz="1000" b="0" i="0">
                <a:solidFill>
                  <a:srgbClr val="64748B"/>
                </a:solidFill>
                <a:latin typeface="Segoe UI"/>
              </a:rPr>
              <a:t>   ·   A physics tutor that makes the concept click</a:t>
            </a:r>
          </a:p>
        </p:txBody>
      </p:sp>
      <p:sp>
        <p:nvSpPr>
          <p:cNvPr id="7" name="TextBox 6"/>
          <p:cNvSpPr txBox="1"/>
          <p:nvPr/>
        </p:nvSpPr>
        <p:spPr>
          <a:xfrm>
            <a:off x="822960" y="2057400"/>
            <a:ext cx="6492240" cy="3931920"/>
          </a:xfrm>
          <a:prstGeom prst="rect">
            <a:avLst/>
          </a:prstGeom>
          <a:noFill/>
        </p:spPr>
        <p:txBody>
          <a:bodyPr wrap="square" anchor="t" lIns="0" rIns="0" tIns="0" bIns="0">
            <a:spAutoFit/>
          </a:bodyPr>
          <a:lstStyle/>
          <a:p>
            <a:pPr algn="l">
              <a:lnSpc>
                <a:spcPct val="108000"/>
              </a:lnSpc>
              <a:spcBef>
                <a:spcPts val="0"/>
              </a:spcBef>
              <a:spcAft>
                <a:spcPts val="1200"/>
              </a:spcAft>
            </a:pPr>
            <a:r>
              <a:rPr sz="1500" b="1" i="0">
                <a:solidFill>
                  <a:srgbClr val="1E88E5"/>
                </a:solidFill>
                <a:latin typeface="Segoe UI"/>
              </a:rPr>
              <a:t>▸  </a:t>
            </a:r>
            <a:r>
              <a:rPr sz="1500" b="1" i="0">
                <a:solidFill>
                  <a:srgbClr val="1E293B"/>
                </a:solidFill>
                <a:latin typeface="Segoe UI"/>
              </a:rPr>
              <a:t>Founder + an IIT professor ≈ ~2 simulations a month. </a:t>
            </a:r>
            <a:r>
              <a:rPr sz="1500" b="0" i="0">
                <a:solidFill>
                  <a:srgbClr val="1E293B"/>
                </a:solidFill>
                <a:latin typeface="Segoe UI"/>
              </a:rPr>
              <a:t>Enough to PROVE the method — not to build a whole catalogue.</a:t>
            </a:r>
          </a:p>
          <a:p>
            <a:pPr algn="l">
              <a:lnSpc>
                <a:spcPct val="108000"/>
              </a:lnSpc>
              <a:spcBef>
                <a:spcPts val="0"/>
              </a:spcBef>
              <a:spcAft>
                <a:spcPts val="1200"/>
              </a:spcAft>
            </a:pPr>
            <a:r>
              <a:rPr sz="1500" b="1" i="0">
                <a:solidFill>
                  <a:srgbClr val="1E88E5"/>
                </a:solidFill>
                <a:latin typeface="Segoe UI"/>
              </a:rPr>
              <a:t>▸  </a:t>
            </a:r>
            <a:r>
              <a:rPr sz="1500" b="1" i="0">
                <a:solidFill>
                  <a:srgbClr val="F57C00"/>
                </a:solidFill>
                <a:latin typeface="Segoe UI"/>
              </a:rPr>
              <a:t>Solo, full physics would take years. </a:t>
            </a:r>
            <a:r>
              <a:rPr sz="1500" b="0" i="0">
                <a:solidFill>
                  <a:srgbClr val="1E293B"/>
                </a:solidFill>
                <a:latin typeface="Segoe UI"/>
              </a:rPr>
              <a:t>That is exactly why we build a team — but only after the pilot proves it works.</a:t>
            </a:r>
          </a:p>
          <a:p>
            <a:pPr algn="l">
              <a:lnSpc>
                <a:spcPct val="108000"/>
              </a:lnSpc>
              <a:spcBef>
                <a:spcPts val="0"/>
              </a:spcBef>
              <a:spcAft>
                <a:spcPts val="1200"/>
              </a:spcAft>
            </a:pPr>
            <a:r>
              <a:rPr sz="1500" b="1" i="0">
                <a:solidFill>
                  <a:srgbClr val="1E88E5"/>
                </a:solidFill>
                <a:latin typeface="Segoe UI"/>
              </a:rPr>
              <a:t>▸  </a:t>
            </a:r>
            <a:r>
              <a:rPr sz="1500" b="1" i="0">
                <a:solidFill>
                  <a:srgbClr val="1E293B"/>
                </a:solidFill>
                <a:latin typeface="Segoe UI"/>
              </a:rPr>
              <a:t>Each new pipeline (1 subject expert + 1 builder) ≈ +2–3 sims/month. </a:t>
            </a:r>
            <a:r>
              <a:rPr sz="1500" b="0" i="0">
                <a:solidFill>
                  <a:srgbClr val="1E293B"/>
                </a:solidFill>
                <a:latin typeface="Segoe UI"/>
              </a:rPr>
              <a:t>Throughput compounds; quality rises week by week.</a:t>
            </a:r>
          </a:p>
          <a:p>
            <a:pPr algn="l">
              <a:lnSpc>
                <a:spcPct val="108000"/>
              </a:lnSpc>
              <a:spcBef>
                <a:spcPts val="0"/>
              </a:spcBef>
              <a:spcAft>
                <a:spcPts val="0"/>
              </a:spcAft>
            </a:pPr>
            <a:r>
              <a:rPr sz="1500" b="1" i="0">
                <a:solidFill>
                  <a:srgbClr val="1E88E5"/>
                </a:solidFill>
                <a:latin typeface="Segoe UI"/>
              </a:rPr>
              <a:t>▸  </a:t>
            </a:r>
            <a:r>
              <a:rPr sz="1500" b="1" i="0">
                <a:solidFill>
                  <a:srgbClr val="1E293B"/>
                </a:solidFill>
                <a:latin typeface="Segoe UI"/>
              </a:rPr>
              <a:t>A Year-2 team (~6 people) ≈ ₹50–80 lakh/year </a:t>
            </a:r>
            <a:r>
              <a:rPr sz="1500" b="0" i="0">
                <a:solidFill>
                  <a:srgbClr val="1E293B"/>
                </a:solidFill>
                <a:latin typeface="Segoe UI"/>
              </a:rPr>
              <a:t>— capital-efficient by global standards.</a:t>
            </a:r>
          </a:p>
        </p:txBody>
      </p:sp>
      <p:sp>
        <p:nvSpPr>
          <p:cNvPr id="8" name="Rounded Rectangle 7"/>
          <p:cNvSpPr/>
          <p:nvPr/>
        </p:nvSpPr>
        <p:spPr>
          <a:xfrm>
            <a:off x="7680960" y="2057400"/>
            <a:ext cx="3687775" cy="2468880"/>
          </a:xfrm>
          <a:prstGeom prst="roundRect">
            <a:avLst>
              <a:gd name="adj" fmla="val 5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1000" y="2331720"/>
            <a:ext cx="3047695" cy="1920240"/>
          </a:xfrm>
          <a:prstGeom prst="rect">
            <a:avLst/>
          </a:prstGeom>
          <a:noFill/>
        </p:spPr>
        <p:txBody>
          <a:bodyPr wrap="square" anchor="ctr" lIns="0" rIns="0" tIns="0" bIns="0">
            <a:spAutoFit/>
          </a:bodyPr>
          <a:lstStyle/>
          <a:p>
            <a:pPr algn="l">
              <a:lnSpc>
                <a:spcPct val="105000"/>
              </a:lnSpc>
              <a:spcBef>
                <a:spcPts val="0"/>
              </a:spcBef>
              <a:spcAft>
                <a:spcPts val="800"/>
              </a:spcAft>
            </a:pPr>
            <a:r>
              <a:rPr sz="1500" b="1" i="0">
                <a:solidFill>
                  <a:srgbClr val="64748B"/>
                </a:solidFill>
                <a:latin typeface="Segoe UI"/>
              </a:rPr>
              <a:t>FULL PHYSICS CATALOGUE</a:t>
            </a:r>
          </a:p>
          <a:p>
            <a:pPr algn="l">
              <a:lnSpc>
                <a:spcPct val="100000"/>
              </a:lnSpc>
              <a:spcBef>
                <a:spcPts val="0"/>
              </a:spcBef>
              <a:spcAft>
                <a:spcPts val="200"/>
              </a:spcAft>
            </a:pPr>
            <a:r>
              <a:rPr sz="2200" b="1" i="0">
                <a:solidFill>
                  <a:srgbClr val="F57C00"/>
                </a:solidFill>
                <a:latin typeface="Segoe UI"/>
              </a:rPr>
              <a:t>Just us:  ~years</a:t>
            </a:r>
          </a:p>
          <a:p>
            <a:pPr algn="l">
              <a:lnSpc>
                <a:spcPct val="100000"/>
              </a:lnSpc>
              <a:spcBef>
                <a:spcPts val="0"/>
              </a:spcBef>
              <a:spcAft>
                <a:spcPts val="0"/>
              </a:spcAft>
            </a:pPr>
            <a:r>
              <a:rPr sz="2200" b="1" i="0">
                <a:solidFill>
                  <a:srgbClr val="1E88E5"/>
                </a:solidFill>
                <a:latin typeface="Segoe UI"/>
              </a:rPr>
              <a:t>With a team:  ~2 yrs</a:t>
            </a:r>
          </a:p>
        </p:txBody>
      </p:sp>
      <p:sp>
        <p:nvSpPr>
          <p:cNvPr id="10" name="TextBox 9"/>
          <p:cNvSpPr txBox="1"/>
          <p:nvPr/>
        </p:nvSpPr>
        <p:spPr>
          <a:xfrm>
            <a:off x="10911535" y="6419088"/>
            <a:ext cx="457200" cy="320040"/>
          </a:xfrm>
          <a:prstGeom prst="rect">
            <a:avLst/>
          </a:prstGeom>
          <a:noFill/>
        </p:spPr>
        <p:txBody>
          <a:bodyPr wrap="square" anchor="t" lIns="0" rIns="0" tIns="0" bIns="0">
            <a:spAutoFit/>
          </a:bodyPr>
          <a:lstStyle/>
          <a:p>
            <a:pPr algn="r">
              <a:lnSpc>
                <a:spcPct val="105000"/>
              </a:lnSpc>
              <a:spcBef>
                <a:spcPts val="0"/>
              </a:spcBef>
              <a:spcAft>
                <a:spcPts val="0"/>
              </a:spcAft>
            </a:pPr>
            <a:r>
              <a:rPr sz="1000" b="1" i="0">
                <a:solidFill>
                  <a:srgbClr val="64748B"/>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475488"/>
            <a:ext cx="10545775" cy="365760"/>
          </a:xfrm>
          <a:prstGeom prst="rect">
            <a:avLst/>
          </a:prstGeom>
          <a:noFill/>
        </p:spPr>
        <p:txBody>
          <a:bodyPr wrap="square" anchor="t" lIns="0" rIns="0" tIns="0" bIns="0">
            <a:spAutoFit/>
          </a:bodyPr>
          <a:lstStyle/>
          <a:p>
            <a:pPr algn="l">
              <a:lnSpc>
                <a:spcPct val="105000"/>
              </a:lnSpc>
              <a:spcBef>
                <a:spcPts val="0"/>
              </a:spcBef>
              <a:spcAft>
                <a:spcPts val="0"/>
              </a:spcAft>
            </a:pPr>
            <a:r>
              <a:rPr sz="1300" b="1" i="0">
                <a:solidFill>
                  <a:srgbClr val="1E88E5"/>
                </a:solidFill>
                <a:latin typeface="Segoe UI"/>
              </a:rPr>
              <a:t>08 · THE 3-YEAR JOURNEY</a:t>
            </a:r>
          </a:p>
        </p:txBody>
      </p:sp>
      <p:sp>
        <p:nvSpPr>
          <p:cNvPr id="4" name="TextBox 3"/>
          <p:cNvSpPr txBox="1"/>
          <p:nvPr/>
        </p:nvSpPr>
        <p:spPr>
          <a:xfrm>
            <a:off x="822960" y="841248"/>
            <a:ext cx="10545775" cy="1097280"/>
          </a:xfrm>
          <a:prstGeom prst="rect">
            <a:avLst/>
          </a:prstGeom>
          <a:noFill/>
        </p:spPr>
        <p:txBody>
          <a:bodyPr wrap="square" anchor="t" lIns="0" rIns="0" tIns="0" bIns="0">
            <a:spAutoFit/>
          </a:bodyPr>
          <a:lstStyle/>
          <a:p>
            <a:pPr algn="l">
              <a:lnSpc>
                <a:spcPct val="100000"/>
              </a:lnSpc>
              <a:spcBef>
                <a:spcPts val="0"/>
              </a:spcBef>
              <a:spcAft>
                <a:spcPts val="600"/>
              </a:spcAft>
            </a:pPr>
            <a:r>
              <a:rPr sz="3200" b="1" i="0">
                <a:solidFill>
                  <a:srgbClr val="1E293B"/>
                </a:solidFill>
                <a:latin typeface="Segoe UI"/>
              </a:rPr>
              <a:t>India → UAE → US. Prove first, then scale.</a:t>
            </a:r>
          </a:p>
        </p:txBody>
      </p:sp>
      <p:sp>
        <p:nvSpPr>
          <p:cNvPr id="5" name="Rectangle 4"/>
          <p:cNvSpPr/>
          <p:nvPr/>
        </p:nvSpPr>
        <p:spPr>
          <a:xfrm>
            <a:off x="822960" y="1755648"/>
            <a:ext cx="10545775" cy="25400"/>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6419088"/>
            <a:ext cx="6400800" cy="320040"/>
          </a:xfrm>
          <a:prstGeom prst="rect">
            <a:avLst/>
          </a:prstGeom>
          <a:noFill/>
        </p:spPr>
        <p:txBody>
          <a:bodyPr wrap="square" anchor="t" lIns="0" rIns="0" tIns="0" bIns="0">
            <a:spAutoFit/>
          </a:bodyPr>
          <a:lstStyle/>
          <a:p>
            <a:pPr algn="l">
              <a:lnSpc>
                <a:spcPct val="105000"/>
              </a:lnSpc>
              <a:spcBef>
                <a:spcPts val="0"/>
              </a:spcBef>
              <a:spcAft>
                <a:spcPts val="0"/>
              </a:spcAft>
            </a:pPr>
            <a:r>
              <a:rPr sz="1000" b="1" i="0">
                <a:solidFill>
                  <a:srgbClr val="64748B"/>
                </a:solidFill>
                <a:latin typeface="Segoe UI"/>
              </a:rPr>
              <a:t>PhysicsMind</a:t>
            </a:r>
            <a:r>
              <a:rPr sz="1000" b="0" i="0">
                <a:solidFill>
                  <a:srgbClr val="64748B"/>
                </a:solidFill>
                <a:latin typeface="Segoe UI"/>
              </a:rPr>
              <a:t>   ·   A physics tutor that makes the concept click</a:t>
            </a:r>
          </a:p>
        </p:txBody>
      </p:sp>
      <p:sp>
        <p:nvSpPr>
          <p:cNvPr id="7" name="Rounded Rectangle 6"/>
          <p:cNvSpPr/>
          <p:nvPr/>
        </p:nvSpPr>
        <p:spPr>
          <a:xfrm>
            <a:off x="822960" y="2057400"/>
            <a:ext cx="3307994" cy="3383280"/>
          </a:xfrm>
          <a:prstGeom prst="roundRect">
            <a:avLst>
              <a:gd name="adj" fmla="val 5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57400"/>
            <a:ext cx="3307994" cy="109728"/>
          </a:xfrm>
          <a:prstGeom prst="rect">
            <a:avLst/>
          </a:prstGeom>
          <a:solidFill>
            <a:srgbClr val="1B9E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368296"/>
            <a:ext cx="2759354" cy="2834640"/>
          </a:xfrm>
          <a:prstGeom prst="rect">
            <a:avLst/>
          </a:prstGeom>
          <a:noFill/>
        </p:spPr>
        <p:txBody>
          <a:bodyPr wrap="square" anchor="t" lIns="0" rIns="0" tIns="0" bIns="0">
            <a:spAutoFit/>
          </a:bodyPr>
          <a:lstStyle/>
          <a:p>
            <a:pPr algn="l">
              <a:lnSpc>
                <a:spcPct val="105000"/>
              </a:lnSpc>
              <a:spcBef>
                <a:spcPts val="0"/>
              </a:spcBef>
              <a:spcAft>
                <a:spcPts val="200"/>
              </a:spcAft>
            </a:pPr>
            <a:r>
              <a:rPr sz="1400" b="1" i="0">
                <a:solidFill>
                  <a:srgbClr val="1B9E5A"/>
                </a:solidFill>
                <a:latin typeface="Segoe UI"/>
              </a:rPr>
              <a:t>YEAR 1 — PROVE</a:t>
            </a:r>
          </a:p>
          <a:p>
            <a:pPr algn="l">
              <a:lnSpc>
                <a:spcPct val="102000"/>
              </a:lnSpc>
              <a:spcBef>
                <a:spcPts val="0"/>
              </a:spcBef>
              <a:spcAft>
                <a:spcPts val="1000"/>
              </a:spcAft>
            </a:pPr>
            <a:r>
              <a:rPr sz="1700" b="1" i="0">
                <a:solidFill>
                  <a:srgbClr val="1E293B"/>
                </a:solidFill>
                <a:latin typeface="Segoe UI"/>
              </a:rPr>
              <a:t>India · prove it</a:t>
            </a:r>
          </a:p>
          <a:p>
            <a:pPr algn="l">
              <a:lnSpc>
                <a:spcPct val="110000"/>
              </a:lnSpc>
              <a:spcBef>
                <a:spcPts val="0"/>
              </a:spcBef>
              <a:spcAft>
                <a:spcPts val="700"/>
              </a:spcAft>
            </a:pPr>
            <a:r>
              <a:rPr sz="1250" b="1" i="0">
                <a:solidFill>
                  <a:srgbClr val="1B9E5A"/>
                </a:solidFill>
                <a:latin typeface="Segoe UI"/>
              </a:rPr>
              <a:t>•  </a:t>
            </a:r>
            <a:r>
              <a:rPr sz="1250" b="0" i="0">
                <a:solidFill>
                  <a:srgbClr val="1E293B"/>
                </a:solidFill>
                <a:latin typeface="Segoe UI"/>
              </a:rPr>
              <a:t>Founder + IIT professor</a:t>
            </a:r>
          </a:p>
          <a:p>
            <a:pPr algn="l">
              <a:lnSpc>
                <a:spcPct val="110000"/>
              </a:lnSpc>
              <a:spcBef>
                <a:spcPts val="0"/>
              </a:spcBef>
              <a:spcAft>
                <a:spcPts val="700"/>
              </a:spcAft>
            </a:pPr>
            <a:r>
              <a:rPr sz="1250" b="1" i="0">
                <a:solidFill>
                  <a:srgbClr val="1B9E5A"/>
                </a:solidFill>
                <a:latin typeface="Segoe UI"/>
              </a:rPr>
              <a:t>•  </a:t>
            </a:r>
            <a:r>
              <a:rPr sz="1250" b="0" i="0">
                <a:solidFill>
                  <a:srgbClr val="1E293B"/>
                </a:solidFill>
                <a:latin typeface="Segoe UI"/>
              </a:rPr>
              <a:t>Build the physics pilot chapter</a:t>
            </a:r>
          </a:p>
          <a:p>
            <a:pPr algn="l">
              <a:lnSpc>
                <a:spcPct val="110000"/>
              </a:lnSpc>
              <a:spcBef>
                <a:spcPts val="0"/>
              </a:spcBef>
              <a:spcAft>
                <a:spcPts val="700"/>
              </a:spcAft>
            </a:pPr>
            <a:r>
              <a:rPr sz="1250" b="1" i="0">
                <a:solidFill>
                  <a:srgbClr val="1B9E5A"/>
                </a:solidFill>
                <a:latin typeface="Segoe UI"/>
              </a:rPr>
              <a:t>•  </a:t>
            </a:r>
            <a:r>
              <a:rPr sz="1250" b="0" i="0">
                <a:solidFill>
                  <a:srgbClr val="1E293B"/>
                </a:solidFill>
                <a:latin typeface="Segoe UI"/>
              </a:rPr>
              <a:t>1–2 institutes, free</a:t>
            </a:r>
          </a:p>
          <a:p>
            <a:pPr algn="l">
              <a:lnSpc>
                <a:spcPct val="110000"/>
              </a:lnSpc>
              <a:spcBef>
                <a:spcPts val="0"/>
              </a:spcBef>
              <a:spcAft>
                <a:spcPts val="700"/>
              </a:spcAft>
            </a:pPr>
            <a:r>
              <a:rPr sz="1250" b="1" i="0">
                <a:solidFill>
                  <a:srgbClr val="1B9E5A"/>
                </a:solidFill>
                <a:latin typeface="Segoe UI"/>
              </a:rPr>
              <a:t>•  </a:t>
            </a:r>
            <a:r>
              <a:rPr sz="1250" b="0" i="0">
                <a:solidFill>
                  <a:srgbClr val="1E293B"/>
                </a:solidFill>
                <a:latin typeface="Segoe UI"/>
              </a:rPr>
              <a:t>Prove the lift on 100–150 students</a:t>
            </a:r>
          </a:p>
          <a:p>
            <a:pPr algn="l">
              <a:lnSpc>
                <a:spcPct val="110000"/>
              </a:lnSpc>
              <a:spcBef>
                <a:spcPts val="0"/>
              </a:spcBef>
              <a:spcAft>
                <a:spcPts val="700"/>
              </a:spcAft>
            </a:pPr>
            <a:r>
              <a:rPr sz="1250" b="1" i="0">
                <a:solidFill>
                  <a:srgbClr val="1B9E5A"/>
                </a:solidFill>
                <a:latin typeface="Segoe UI"/>
              </a:rPr>
              <a:t>•  </a:t>
            </a:r>
            <a:r>
              <a:rPr sz="1250" b="0" i="0">
                <a:solidFill>
                  <a:srgbClr val="1E293B"/>
                </a:solidFill>
                <a:latin typeface="Segoe UI"/>
              </a:rPr>
              <a:t>End of Y1: start selling to institutes</a:t>
            </a:r>
          </a:p>
        </p:txBody>
      </p:sp>
      <p:sp>
        <p:nvSpPr>
          <p:cNvPr id="10" name="Rounded Rectangle 9"/>
          <p:cNvSpPr/>
          <p:nvPr/>
        </p:nvSpPr>
        <p:spPr>
          <a:xfrm>
            <a:off x="4441850" y="2057400"/>
            <a:ext cx="3307994" cy="3383280"/>
          </a:xfrm>
          <a:prstGeom prst="roundRect">
            <a:avLst>
              <a:gd name="adj" fmla="val 5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41850" y="2057400"/>
            <a:ext cx="3307994" cy="109728"/>
          </a:xfrm>
          <a:prstGeom prst="rect">
            <a:avLst/>
          </a:prstGeom>
          <a:solidFill>
            <a:srgbClr val="1E88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16170" y="2368296"/>
            <a:ext cx="2759354" cy="2834640"/>
          </a:xfrm>
          <a:prstGeom prst="rect">
            <a:avLst/>
          </a:prstGeom>
          <a:noFill/>
        </p:spPr>
        <p:txBody>
          <a:bodyPr wrap="square" anchor="t" lIns="0" rIns="0" tIns="0" bIns="0">
            <a:spAutoFit/>
          </a:bodyPr>
          <a:lstStyle/>
          <a:p>
            <a:pPr algn="l">
              <a:lnSpc>
                <a:spcPct val="105000"/>
              </a:lnSpc>
              <a:spcBef>
                <a:spcPts val="0"/>
              </a:spcBef>
              <a:spcAft>
                <a:spcPts val="200"/>
              </a:spcAft>
            </a:pPr>
            <a:r>
              <a:rPr sz="1400" b="1" i="0">
                <a:solidFill>
                  <a:srgbClr val="1E88E5"/>
                </a:solidFill>
                <a:latin typeface="Segoe UI"/>
              </a:rPr>
              <a:t>YEAR 2 — SCALE</a:t>
            </a:r>
          </a:p>
          <a:p>
            <a:pPr algn="l">
              <a:lnSpc>
                <a:spcPct val="102000"/>
              </a:lnSpc>
              <a:spcBef>
                <a:spcPts val="0"/>
              </a:spcBef>
              <a:spcAft>
                <a:spcPts val="1000"/>
              </a:spcAft>
            </a:pPr>
            <a:r>
              <a:rPr sz="1700" b="1" i="0">
                <a:solidFill>
                  <a:srgbClr val="1E293B"/>
                </a:solidFill>
                <a:latin typeface="Segoe UI"/>
              </a:rPr>
              <a:t>India + UAE · grow</a:t>
            </a:r>
          </a:p>
          <a:p>
            <a:pPr algn="l">
              <a:lnSpc>
                <a:spcPct val="110000"/>
              </a:lnSpc>
              <a:spcBef>
                <a:spcPts val="0"/>
              </a:spcBef>
              <a:spcAft>
                <a:spcPts val="700"/>
              </a:spcAft>
            </a:pPr>
            <a:r>
              <a:rPr sz="1250" b="1" i="0">
                <a:solidFill>
                  <a:srgbClr val="1E88E5"/>
                </a:solidFill>
                <a:latin typeface="Segoe UI"/>
              </a:rPr>
              <a:t>•  </a:t>
            </a:r>
            <a:r>
              <a:rPr sz="1250" b="0" i="0">
                <a:solidFill>
                  <a:srgbClr val="1E293B"/>
                </a:solidFill>
                <a:latin typeface="Segoe UI"/>
              </a:rPr>
              <a:t>Small content team begins</a:t>
            </a:r>
          </a:p>
          <a:p>
            <a:pPr algn="l">
              <a:lnSpc>
                <a:spcPct val="110000"/>
              </a:lnSpc>
              <a:spcBef>
                <a:spcPts val="0"/>
              </a:spcBef>
              <a:spcAft>
                <a:spcPts val="700"/>
              </a:spcAft>
            </a:pPr>
            <a:r>
              <a:rPr sz="1250" b="1" i="0">
                <a:solidFill>
                  <a:srgbClr val="1E88E5"/>
                </a:solidFill>
                <a:latin typeface="Segoe UI"/>
              </a:rPr>
              <a:t>•  </a:t>
            </a:r>
            <a:r>
              <a:rPr sz="1250" b="0" i="0">
                <a:solidFill>
                  <a:srgbClr val="1E293B"/>
                </a:solidFill>
                <a:latin typeface="Segoe UI"/>
              </a:rPr>
              <a:t>Finish physics, start maths + chemistry</a:t>
            </a:r>
          </a:p>
          <a:p>
            <a:pPr algn="l">
              <a:lnSpc>
                <a:spcPct val="110000"/>
              </a:lnSpc>
              <a:spcBef>
                <a:spcPts val="0"/>
              </a:spcBef>
              <a:spcAft>
                <a:spcPts val="700"/>
              </a:spcAft>
            </a:pPr>
            <a:r>
              <a:rPr sz="1250" b="1" i="0">
                <a:solidFill>
                  <a:srgbClr val="1E88E5"/>
                </a:solidFill>
                <a:latin typeface="Segoe UI"/>
              </a:rPr>
              <a:t>•  </a:t>
            </a:r>
            <a:r>
              <a:rPr sz="1250" b="0" i="0">
                <a:solidFill>
                  <a:srgbClr val="1E293B"/>
                </a:solidFill>
                <a:latin typeface="Segoe UI"/>
              </a:rPr>
              <a:t>Launch UAE — same syllabus, zero rebuild</a:t>
            </a:r>
          </a:p>
          <a:p>
            <a:pPr algn="l">
              <a:lnSpc>
                <a:spcPct val="110000"/>
              </a:lnSpc>
              <a:spcBef>
                <a:spcPts val="0"/>
              </a:spcBef>
              <a:spcAft>
                <a:spcPts val="700"/>
              </a:spcAft>
            </a:pPr>
            <a:r>
              <a:rPr sz="1250" b="1" i="0">
                <a:solidFill>
                  <a:srgbClr val="1E88E5"/>
                </a:solidFill>
                <a:latin typeface="Segoe UI"/>
              </a:rPr>
              <a:t>•  </a:t>
            </a:r>
            <a:r>
              <a:rPr sz="1250" b="0" i="0">
                <a:solidFill>
                  <a:srgbClr val="1E293B"/>
                </a:solidFill>
                <a:latin typeface="Segoe UI"/>
              </a:rPr>
              <a:t>Add the AI chatbot → voice tutor</a:t>
            </a:r>
          </a:p>
          <a:p>
            <a:pPr algn="l">
              <a:lnSpc>
                <a:spcPct val="110000"/>
              </a:lnSpc>
              <a:spcBef>
                <a:spcPts val="0"/>
              </a:spcBef>
              <a:spcAft>
                <a:spcPts val="700"/>
              </a:spcAft>
            </a:pPr>
            <a:r>
              <a:rPr sz="1250" b="1" i="0">
                <a:solidFill>
                  <a:srgbClr val="1E88E5"/>
                </a:solidFill>
                <a:latin typeface="Segoe UI"/>
              </a:rPr>
              <a:t>•  </a:t>
            </a:r>
            <a:r>
              <a:rPr sz="1250" b="0" i="0">
                <a:solidFill>
                  <a:srgbClr val="1E293B"/>
                </a:solidFill>
                <a:latin typeface="Segoe UI"/>
              </a:rPr>
              <a:t>First real revenue at scale</a:t>
            </a:r>
          </a:p>
        </p:txBody>
      </p:sp>
      <p:sp>
        <p:nvSpPr>
          <p:cNvPr id="13" name="Rounded Rectangle 12"/>
          <p:cNvSpPr/>
          <p:nvPr/>
        </p:nvSpPr>
        <p:spPr>
          <a:xfrm>
            <a:off x="8060740" y="2057400"/>
            <a:ext cx="3307994" cy="3383280"/>
          </a:xfrm>
          <a:prstGeom prst="roundRect">
            <a:avLst>
              <a:gd name="adj" fmla="val 5000"/>
            </a:avLst>
          </a:prstGeom>
          <a:solidFill>
            <a:srgbClr val="F8FA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60740" y="2057400"/>
            <a:ext cx="3307994" cy="109728"/>
          </a:xfrm>
          <a:prstGeom prst="rect">
            <a:avLst/>
          </a:prstGeom>
          <a:solidFill>
            <a:srgbClr val="F57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5060" y="2368296"/>
            <a:ext cx="2759354" cy="2834640"/>
          </a:xfrm>
          <a:prstGeom prst="rect">
            <a:avLst/>
          </a:prstGeom>
          <a:noFill/>
        </p:spPr>
        <p:txBody>
          <a:bodyPr wrap="square" anchor="t" lIns="0" rIns="0" tIns="0" bIns="0">
            <a:spAutoFit/>
          </a:bodyPr>
          <a:lstStyle/>
          <a:p>
            <a:pPr algn="l">
              <a:lnSpc>
                <a:spcPct val="105000"/>
              </a:lnSpc>
              <a:spcBef>
                <a:spcPts val="0"/>
              </a:spcBef>
              <a:spcAft>
                <a:spcPts val="200"/>
              </a:spcAft>
            </a:pPr>
            <a:r>
              <a:rPr sz="1400" b="1" i="0">
                <a:solidFill>
                  <a:srgbClr val="F57C00"/>
                </a:solidFill>
                <a:latin typeface="Segoe UI"/>
              </a:rPr>
              <a:t>YEAR 3 — EXPAND</a:t>
            </a:r>
          </a:p>
          <a:p>
            <a:pPr algn="l">
              <a:lnSpc>
                <a:spcPct val="102000"/>
              </a:lnSpc>
              <a:spcBef>
                <a:spcPts val="0"/>
              </a:spcBef>
              <a:spcAft>
                <a:spcPts val="1000"/>
              </a:spcAft>
            </a:pPr>
            <a:r>
              <a:rPr sz="1700" b="1" i="0">
                <a:solidFill>
                  <a:srgbClr val="1E293B"/>
                </a:solidFill>
                <a:latin typeface="Segoe UI"/>
              </a:rPr>
              <a:t>Go global</a:t>
            </a:r>
          </a:p>
          <a:p>
            <a:pPr algn="l">
              <a:lnSpc>
                <a:spcPct val="110000"/>
              </a:lnSpc>
              <a:spcBef>
                <a:spcPts val="0"/>
              </a:spcBef>
              <a:spcAft>
                <a:spcPts val="700"/>
              </a:spcAft>
            </a:pPr>
            <a:r>
              <a:rPr sz="1250" b="1" i="0">
                <a:solidFill>
                  <a:srgbClr val="F57C00"/>
                </a:solidFill>
                <a:latin typeface="Segoe UI"/>
              </a:rPr>
              <a:t>•  </a:t>
            </a:r>
            <a:r>
              <a:rPr sz="1250" b="0" i="0">
                <a:solidFill>
                  <a:srgbClr val="1E293B"/>
                </a:solidFill>
                <a:latin typeface="Segoe UI"/>
              </a:rPr>
              <a:t>Scale the catalogue with the team</a:t>
            </a:r>
          </a:p>
          <a:p>
            <a:pPr algn="l">
              <a:lnSpc>
                <a:spcPct val="110000"/>
              </a:lnSpc>
              <a:spcBef>
                <a:spcPts val="0"/>
              </a:spcBef>
              <a:spcAft>
                <a:spcPts val="700"/>
              </a:spcAft>
            </a:pPr>
            <a:r>
              <a:rPr sz="1250" b="1" i="0">
                <a:solidFill>
                  <a:srgbClr val="F57C00"/>
                </a:solidFill>
                <a:latin typeface="Segoe UI"/>
              </a:rPr>
              <a:t>•  </a:t>
            </a:r>
            <a:r>
              <a:rPr sz="1250" b="0" i="0">
                <a:solidFill>
                  <a:srgbClr val="1E293B"/>
                </a:solidFill>
                <a:latin typeface="Segoe UI"/>
              </a:rPr>
              <a:t>Enter US / UK (after syllabus rebuild)</a:t>
            </a:r>
          </a:p>
          <a:p>
            <a:pPr algn="l">
              <a:lnSpc>
                <a:spcPct val="110000"/>
              </a:lnSpc>
              <a:spcBef>
                <a:spcPts val="0"/>
              </a:spcBef>
              <a:spcAft>
                <a:spcPts val="700"/>
              </a:spcAft>
            </a:pPr>
            <a:r>
              <a:rPr sz="1250" b="1" i="0">
                <a:solidFill>
                  <a:srgbClr val="F57C00"/>
                </a:solidFill>
                <a:latin typeface="Segoe UI"/>
              </a:rPr>
              <a:t>•  </a:t>
            </a:r>
            <a:r>
              <a:rPr sz="1250" b="0" i="0">
                <a:solidFill>
                  <a:srgbClr val="1E293B"/>
                </a:solidFill>
                <a:latin typeface="Segoe UI"/>
              </a:rPr>
              <a:t>Personalised AI tutor matures</a:t>
            </a:r>
          </a:p>
          <a:p>
            <a:pPr algn="l">
              <a:lnSpc>
                <a:spcPct val="110000"/>
              </a:lnSpc>
              <a:spcBef>
                <a:spcPts val="0"/>
              </a:spcBef>
              <a:spcAft>
                <a:spcPts val="700"/>
              </a:spcAft>
            </a:pPr>
            <a:r>
              <a:rPr sz="1250" b="1" i="0">
                <a:solidFill>
                  <a:srgbClr val="F57C00"/>
                </a:solidFill>
                <a:latin typeface="Segoe UI"/>
              </a:rPr>
              <a:t>•  </a:t>
            </a:r>
            <a:r>
              <a:rPr sz="1250" b="0" i="0">
                <a:solidFill>
                  <a:srgbClr val="1E293B"/>
                </a:solidFill>
                <a:latin typeface="Segoe UI"/>
              </a:rPr>
              <a:t>Quality compounds week by week</a:t>
            </a:r>
          </a:p>
        </p:txBody>
      </p:sp>
      <p:sp>
        <p:nvSpPr>
          <p:cNvPr id="16" name="TextBox 15"/>
          <p:cNvSpPr txBox="1"/>
          <p:nvPr/>
        </p:nvSpPr>
        <p:spPr>
          <a:xfrm>
            <a:off x="822960" y="5550408"/>
            <a:ext cx="10545775" cy="365760"/>
          </a:xfrm>
          <a:prstGeom prst="rect">
            <a:avLst/>
          </a:prstGeom>
          <a:noFill/>
        </p:spPr>
        <p:txBody>
          <a:bodyPr wrap="square" anchor="t" lIns="0" rIns="0" tIns="0" bIns="0">
            <a:spAutoFit/>
          </a:bodyPr>
          <a:lstStyle/>
          <a:p>
            <a:pPr algn="ctr">
              <a:lnSpc>
                <a:spcPct val="105000"/>
              </a:lnSpc>
              <a:spcBef>
                <a:spcPts val="0"/>
              </a:spcBef>
              <a:spcAft>
                <a:spcPts val="0"/>
              </a:spcAft>
            </a:pPr>
            <a:r>
              <a:rPr sz="1300" b="0" i="1">
                <a:solidFill>
                  <a:srgbClr val="64748B"/>
                </a:solidFill>
                <a:latin typeface="Segoe UI"/>
              </a:rPr>
              <a:t>A team makes every step faster.</a:t>
            </a:r>
          </a:p>
        </p:txBody>
      </p:sp>
      <p:sp>
        <p:nvSpPr>
          <p:cNvPr id="17" name="TextBox 16"/>
          <p:cNvSpPr txBox="1"/>
          <p:nvPr/>
        </p:nvSpPr>
        <p:spPr>
          <a:xfrm>
            <a:off x="10911535" y="6419088"/>
            <a:ext cx="457200" cy="320040"/>
          </a:xfrm>
          <a:prstGeom prst="rect">
            <a:avLst/>
          </a:prstGeom>
          <a:noFill/>
        </p:spPr>
        <p:txBody>
          <a:bodyPr wrap="square" anchor="t" lIns="0" rIns="0" tIns="0" bIns="0">
            <a:spAutoFit/>
          </a:bodyPr>
          <a:lstStyle/>
          <a:p>
            <a:pPr algn="r">
              <a:lnSpc>
                <a:spcPct val="105000"/>
              </a:lnSpc>
              <a:spcBef>
                <a:spcPts val="0"/>
              </a:spcBef>
              <a:spcAft>
                <a:spcPts val="0"/>
              </a:spcAft>
            </a:pPr>
            <a:r>
              <a:rPr sz="1000" b="1" i="0">
                <a:solidFill>
                  <a:srgbClr val="64748B"/>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F1E"/>
        </a:solidFill>
        <a:effectLst/>
      </p:bgPr>
    </p:bg>
    <p:spTree>
      <p:nvGrpSpPr>
        <p:cNvPr id="1" name=""/>
        <p:cNvGrpSpPr/>
        <p:nvPr/>
      </p:nvGrpSpPr>
      <p:grpSpPr/>
      <p:sp>
        <p:nvSpPr>
          <p:cNvPr id="2" name="Rectangle 1"/>
          <p:cNvSpPr/>
          <p:nvPr/>
        </p:nvSpPr>
        <p:spPr>
          <a:xfrm>
            <a:off x="0" y="0"/>
            <a:ext cx="12191695" cy="1463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1168"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640080"/>
            <a:ext cx="10058400" cy="1280160"/>
          </a:xfrm>
          <a:prstGeom prst="rect">
            <a:avLst/>
          </a:prstGeom>
          <a:noFill/>
        </p:spPr>
        <p:txBody>
          <a:bodyPr wrap="square" anchor="t" lIns="0" rIns="0" tIns="0" bIns="0">
            <a:spAutoFit/>
          </a:bodyPr>
          <a:lstStyle/>
          <a:p>
            <a:pPr algn="l">
              <a:lnSpc>
                <a:spcPct val="105000"/>
              </a:lnSpc>
              <a:spcBef>
                <a:spcPts val="0"/>
              </a:spcBef>
              <a:spcAft>
                <a:spcPts val="400"/>
              </a:spcAft>
            </a:pPr>
            <a:r>
              <a:rPr sz="1400" b="1" i="0">
                <a:solidFill>
                  <a:srgbClr val="F59E0B"/>
                </a:solidFill>
                <a:latin typeface="Segoe UI"/>
              </a:rPr>
              <a:t>09 · WHAT'S NEXT</a:t>
            </a:r>
          </a:p>
          <a:p>
            <a:pPr algn="l">
              <a:lnSpc>
                <a:spcPct val="100000"/>
              </a:lnSpc>
              <a:spcBef>
                <a:spcPts val="0"/>
              </a:spcBef>
              <a:spcAft>
                <a:spcPts val="0"/>
              </a:spcAft>
            </a:pPr>
            <a:r>
              <a:rPr sz="3800" b="1" i="0">
                <a:solidFill>
                  <a:srgbClr val="FFFFFF"/>
                </a:solidFill>
                <a:latin typeface="Segoe UI"/>
              </a:rPr>
              <a:t>The next step: the pilot.</a:t>
            </a:r>
          </a:p>
        </p:txBody>
      </p:sp>
      <p:sp>
        <p:nvSpPr>
          <p:cNvPr id="5" name="TextBox 4"/>
          <p:cNvSpPr txBox="1"/>
          <p:nvPr/>
        </p:nvSpPr>
        <p:spPr>
          <a:xfrm>
            <a:off x="1005840" y="2240280"/>
            <a:ext cx="10058400" cy="3108960"/>
          </a:xfrm>
          <a:prstGeom prst="rect">
            <a:avLst/>
          </a:prstGeom>
          <a:noFill/>
        </p:spPr>
        <p:txBody>
          <a:bodyPr wrap="square" anchor="t" lIns="0" rIns="0" tIns="0" bIns="0">
            <a:spAutoFit/>
          </a:bodyPr>
          <a:lstStyle/>
          <a:p>
            <a:pPr algn="l">
              <a:lnSpc>
                <a:spcPct val="108000"/>
              </a:lnSpc>
              <a:spcBef>
                <a:spcPts val="0"/>
              </a:spcBef>
              <a:spcAft>
                <a:spcPts val="1600"/>
              </a:spcAft>
            </a:pPr>
            <a:r>
              <a:rPr sz="1800" b="1" i="0">
                <a:solidFill>
                  <a:srgbClr val="F59E0B"/>
                </a:solidFill>
                <a:latin typeface="Segoe UI"/>
              </a:rPr>
              <a:t>▸  </a:t>
            </a:r>
            <a:r>
              <a:rPr sz="1800" b="1" i="0">
                <a:solidFill>
                  <a:srgbClr val="FFFFFF"/>
                </a:solidFill>
                <a:latin typeface="Segoe UI"/>
              </a:rPr>
              <a:t>The product is live. The method works. </a:t>
            </a:r>
            <a:r>
              <a:rPr sz="1800" b="0" i="0">
                <a:solidFill>
                  <a:srgbClr val="BBDBFB"/>
                </a:solidFill>
                <a:latin typeface="Segoe UI"/>
              </a:rPr>
              <a:t>The one thing left is proof.</a:t>
            </a:r>
          </a:p>
          <a:p>
            <a:pPr algn="l">
              <a:lnSpc>
                <a:spcPct val="108000"/>
              </a:lnSpc>
              <a:spcBef>
                <a:spcPts val="0"/>
              </a:spcBef>
              <a:spcAft>
                <a:spcPts val="1600"/>
              </a:spcAft>
            </a:pPr>
            <a:r>
              <a:rPr sz="1800" b="1" i="0">
                <a:solidFill>
                  <a:srgbClr val="F59E0B"/>
                </a:solidFill>
                <a:latin typeface="Segoe UI"/>
              </a:rPr>
              <a:t>▸  </a:t>
            </a:r>
            <a:r>
              <a:rPr sz="1800" b="1" i="0">
                <a:solidFill>
                  <a:srgbClr val="FFFFFF"/>
                </a:solidFill>
                <a:latin typeface="Segoe UI"/>
              </a:rPr>
              <a:t>Next: run the physics pilot with an institute — </a:t>
            </a:r>
            <a:r>
              <a:rPr sz="1800" b="0" i="0">
                <a:solidFill>
                  <a:srgbClr val="BBDBFB"/>
                </a:solidFill>
                <a:latin typeface="Segoe UI"/>
              </a:rPr>
              <a:t>100–150 students, measuring how much more they understand, before vs after.</a:t>
            </a:r>
          </a:p>
          <a:p>
            <a:pPr algn="l">
              <a:lnSpc>
                <a:spcPct val="108000"/>
              </a:lnSpc>
              <a:spcBef>
                <a:spcPts val="0"/>
              </a:spcBef>
              <a:spcAft>
                <a:spcPts val="0"/>
              </a:spcAft>
            </a:pPr>
            <a:r>
              <a:rPr sz="1800" b="1" i="0">
                <a:solidFill>
                  <a:srgbClr val="F59E0B"/>
                </a:solidFill>
                <a:latin typeface="Segoe UI"/>
              </a:rPr>
              <a:t>▸  </a:t>
            </a:r>
            <a:r>
              <a:rPr sz="1800" b="1" i="0">
                <a:solidFill>
                  <a:srgbClr val="FFFFFF"/>
                </a:solidFill>
                <a:latin typeface="Segoe UI"/>
              </a:rPr>
              <a:t>That proof unlocks everything on the roadmap — </a:t>
            </a:r>
            <a:r>
              <a:rPr sz="1800" b="0" i="0">
                <a:solidFill>
                  <a:srgbClr val="BBDBFB"/>
                </a:solidFill>
                <a:latin typeface="Segoe UI"/>
              </a:rPr>
              <a:t>distribution, the team, and the journey abroad.</a:t>
            </a:r>
          </a:p>
        </p:txBody>
      </p:sp>
      <p:sp>
        <p:nvSpPr>
          <p:cNvPr id="6" name="Rectangle 5"/>
          <p:cNvSpPr/>
          <p:nvPr/>
        </p:nvSpPr>
        <p:spPr>
          <a:xfrm>
            <a:off x="1024128" y="5623560"/>
            <a:ext cx="2926080" cy="25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5806440"/>
            <a:ext cx="10058400" cy="548640"/>
          </a:xfrm>
          <a:prstGeom prst="rect">
            <a:avLst/>
          </a:prstGeom>
          <a:noFill/>
        </p:spPr>
        <p:txBody>
          <a:bodyPr wrap="square" anchor="t" lIns="0" rIns="0" tIns="0" bIns="0">
            <a:spAutoFit/>
          </a:bodyPr>
          <a:lstStyle/>
          <a:p>
            <a:pPr algn="l">
              <a:lnSpc>
                <a:spcPct val="105000"/>
              </a:lnSpc>
              <a:spcBef>
                <a:spcPts val="0"/>
              </a:spcBef>
              <a:spcAft>
                <a:spcPts val="0"/>
              </a:spcAft>
            </a:pPr>
            <a:r>
              <a:rPr sz="1400" b="1" i="0">
                <a:solidFill>
                  <a:srgbClr val="FFFFFF"/>
                </a:solidFill>
                <a:latin typeface="Segoe UI"/>
              </a:rPr>
              <a:t>Pradeep  ·  </a:t>
            </a:r>
            <a:r>
              <a:rPr sz="1400" b="0" i="0">
                <a:solidFill>
                  <a:srgbClr val="BBDBFB"/>
                </a:solidFill>
                <a:latin typeface="Segoe UI"/>
              </a:rPr>
              <a:t>nagapuripradeep02@gmail.com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