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7" d="100"/>
          <a:sy n="27" d="100"/>
        </p:scale>
        <p:origin x="10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68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“I just finished my degree at Dresden International University. I'm building a deep-tech education company — an always-on AI tutor that makes students learn actively and proactively, not just watch passively — and I'd like to understand whether and how EXIST can support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“The real gap isn't content — it's access to a teacher who makes it click and corrects how you think.”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open the real simulation on your laptop. The moving, correct physics does more than any slide — and it's always on, so the student learns actively the moment they're stuck. Tap the mic and ask a 'what if' to show the AI professor driving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“The innovation is the architecture and the data — that's what makes it defensible, not a feature anyone can clone.” This is the EXIST-critical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“We sell directly to students. We're not dependent on schools or institutions.”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“One curriculum, sequenced markets. We build where our expertise is, monetize first where families pay, expand deliberately.”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honestly: “Pre-revenue today — the next step is a teacher-supervised student pilot. That's exactly what the EXIST year would fund.”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“This is where it goes. The same engine that teaches Lorentz force today teaches every concept in science tomorrow — one AI professor, always on, for every student, in every curriculum. That's the company I want to build with EXIST.”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“I'd love your guidance on these — that's really why I'm here.” Let the conversation open up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54632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1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DEEP-TECH EDUCATION · DRESDEN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896112" cy="896112"/>
          </a:xfrm>
          <a:prstGeom prst="round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 rot="3600000"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 rot="7200000">
            <a:off x="896112" y="2249424"/>
            <a:ext cx="749808" cy="27432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02436" y="231800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1952" y="1847088"/>
            <a:ext cx="822960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4ECE1"/>
                </a:solidFill>
                <a:latin typeface="Georgia"/>
              </a:rPr>
              <a:t>Physics</a:t>
            </a:r>
            <a:r>
              <a:rPr sz="5200" b="1">
                <a:solidFill>
                  <a:srgbClr val="E07A42"/>
                </a:solidFill>
                <a:latin typeface="Georgia"/>
              </a:rPr>
              <a:t>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2724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BCAB95"/>
                </a:solidFill>
                <a:latin typeface="Georgia"/>
              </a:rPr>
              <a:t>A personal science tutor for every student who doesn’t have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85615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BCAB95"/>
                </a:solidFill>
                <a:latin typeface="Segoe UI"/>
              </a:rPr>
              <a:t>A great teacher can’t be there 24×7 — so learning stays passive.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9663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ECE1"/>
                </a:solidFill>
                <a:latin typeface="Segoe UI"/>
              </a:rPr>
              <a:t>PhysicsMind is </a:t>
            </a:r>
            <a:r>
              <a:rPr sz="1500" b="1">
                <a:solidFill>
                  <a:srgbClr val="E07A42"/>
                </a:solidFill>
                <a:latin typeface="Segoe UI"/>
              </a:rPr>
              <a:t>always on</a:t>
            </a:r>
            <a:r>
              <a:rPr sz="1500" b="0">
                <a:solidFill>
                  <a:srgbClr val="F4ECE1"/>
                </a:solidFill>
                <a:latin typeface="Segoe UI"/>
              </a:rPr>
              <a:t> — learning that’s </a:t>
            </a:r>
            <a:r>
              <a:rPr sz="1500" b="1">
                <a:solidFill>
                  <a:srgbClr val="E07A42"/>
                </a:solidFill>
                <a:latin typeface="Segoe UI"/>
              </a:rPr>
              <a:t>active and proactive</a:t>
            </a:r>
            <a:r>
              <a:rPr sz="1500" b="0">
                <a:solidFill>
                  <a:srgbClr val="F4ECE1"/>
                </a:solidFill>
                <a:latin typeface="Segoe UI"/>
              </a:rPr>
              <a:t>, never passive.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91456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F4ECE1"/>
                </a:solidFill>
                <a:latin typeface="Segoe UI"/>
              </a:rPr>
              <a:t>Pradeep Nagapuri</a:t>
            </a:r>
            <a:r>
              <a:rPr sz="1500" b="0">
                <a:solidFill>
                  <a:srgbClr val="BCAB95"/>
                </a:solidFill>
                <a:latin typeface="Segoe UI"/>
              </a:rPr>
              <a:t>  —  Graduate, Dresden International University (2026)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BCAB95"/>
                </a:solidFill>
                <a:latin typeface="Segoe UI"/>
              </a:rPr>
              <a:t>Deep-tech education startup  ·  built in Dresden, Germany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852160"/>
            <a:ext cx="4617720" cy="457200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Ins="109728" bIns="27432" rtlCol="0" anchor="ctr"/>
          <a:lstStyle/>
          <a:p>
            <a:pPr algn="ctr"/>
            <a:r>
              <a:rPr sz="1100" b="1" spc="180">
                <a:solidFill>
                  <a:srgbClr val="E07A42"/>
                </a:solidFill>
                <a:latin typeface="Segoe UI"/>
              </a:rPr>
              <a:t>APPLYING FOR EXIST-GRÜNDERSTIPENDIUM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09265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4ECE1"/>
                </a:solidFill>
                <a:latin typeface="Georgia"/>
              </a:rPr>
              <a:t>Understanding science shouldn’t depend on affording a great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A great tutor is the biggest advantage in learning — and </a:t>
            </a:r>
            <a:r>
              <a:rPr sz="1650" b="1">
                <a:solidFill>
                  <a:srgbClr val="FFFFFF"/>
                </a:solidFill>
                <a:latin typeface="Segoe UI"/>
              </a:rPr>
              <a:t>never available 24×7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Video and text are </a:t>
            </a:r>
            <a:r>
              <a:rPr sz="1650" b="1">
                <a:solidFill>
                  <a:srgbClr val="FFFFFF"/>
                </a:solidFill>
                <a:latin typeface="Segoe UI"/>
              </a:rPr>
              <a:t>passive</a:t>
            </a:r>
            <a:r>
              <a:rPr sz="1650" b="0">
                <a:solidFill>
                  <a:srgbClr val="ECE3D6"/>
                </a:solidFill>
                <a:latin typeface="Segoe UI"/>
              </a:rPr>
              <a:t> — students watch, they don’t do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Students memorise formulas; </a:t>
            </a:r>
            <a:r>
              <a:rPr sz="1650" b="1">
                <a:solidFill>
                  <a:srgbClr val="FFFFFF"/>
                </a:solidFill>
                <a:latin typeface="Segoe UI"/>
              </a:rPr>
              <a:t>misconceptions go uncorrected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1-to-1 tutoring is expensive and </a:t>
            </a:r>
            <a:r>
              <a:rPr sz="1650" b="1">
                <a:solidFill>
                  <a:srgbClr val="FFFFFF"/>
                </a:solidFill>
                <a:latin typeface="Segoe UI"/>
              </a:rPr>
              <a:t>doesn’t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63898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5669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F4ECE1"/>
                </a:solidFill>
                <a:latin typeface="Georgia"/>
              </a:rPr>
              <a:t>We make the concept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550" b="0">
                <a:solidFill>
                  <a:srgbClr val="ECE3D6"/>
                </a:solidFill>
                <a:latin typeface="Segoe UI"/>
              </a:rPr>
              <a:t>Physics-accurate, </a:t>
            </a:r>
            <a:r>
              <a:rPr sz="1550" b="1">
                <a:solidFill>
                  <a:srgbClr val="FFFFFF"/>
                </a:solidFill>
                <a:latin typeface="Segoe UI"/>
              </a:rPr>
              <a:t>interactive simulations</a:t>
            </a:r>
            <a:r>
              <a:rPr sz="1550" b="0">
                <a:solidFill>
                  <a:srgbClr val="ECE3D6"/>
                </a:solidFill>
                <a:latin typeface="Segoe UI"/>
              </a:rPr>
              <a:t> — learn by doing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550" b="0">
                <a:solidFill>
                  <a:srgbClr val="ECE3D6"/>
                </a:solidFill>
                <a:latin typeface="Segoe UI"/>
              </a:rPr>
              <a:t>An </a:t>
            </a:r>
            <a:r>
              <a:rPr sz="1550" b="1">
                <a:solidFill>
                  <a:srgbClr val="FFFFFF"/>
                </a:solidFill>
                <a:latin typeface="Segoe UI"/>
              </a:rPr>
              <a:t>AI professor</a:t>
            </a:r>
            <a:r>
              <a:rPr sz="1550" b="0">
                <a:solidFill>
                  <a:srgbClr val="ECE3D6"/>
                </a:solidFill>
                <a:latin typeface="Segoe UI"/>
              </a:rPr>
              <a:t> that explains &amp; drives the sim live, by voice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550" b="1">
                <a:solidFill>
                  <a:srgbClr val="FFFFFF"/>
                </a:solidFill>
                <a:latin typeface="Segoe UI"/>
              </a:rPr>
              <a:t>Always on — 24×7 doubt-solving</a:t>
            </a:r>
            <a:r>
              <a:rPr sz="1550" b="0">
                <a:solidFill>
                  <a:srgbClr val="ECE3D6"/>
                </a:solidFill>
                <a:latin typeface="Segoe UI"/>
              </a:rPr>
              <a:t>, no waiting for a teacher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550" b="1">
                <a:solidFill>
                  <a:srgbClr val="FFFFFF"/>
                </a:solidFill>
                <a:latin typeface="Segoe UI"/>
              </a:rPr>
              <a:t>“ChatGPT tells you — PhysicsMind shows you”</a:t>
            </a:r>
          </a:p>
        </p:txBody>
      </p:sp>
      <p:pic>
        <p:nvPicPr>
          <p:cNvPr id="8" name="Picture 7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35" y="1600200"/>
            <a:ext cx="5074920" cy="2367043"/>
          </a:xfrm>
          <a:prstGeom prst="rect">
            <a:avLst/>
          </a:prstGeom>
          <a:ln w="19050">
            <a:solidFill>
              <a:srgbClr val="E07A4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39535" y="4040395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Live product — Lorentz force, with the voice AI professor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18531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WHY IT’S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4ECE1"/>
                </a:solidFill>
                <a:latin typeface="Georgia"/>
              </a:rPr>
              <a:t>Not another tutoring app — a deep-tech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2412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Physics engines compute everything; the AI writes only </a:t>
            </a:r>
            <a:r>
              <a:rPr sz="1650" b="1">
                <a:solidFill>
                  <a:srgbClr val="FFFFFF"/>
                </a:solidFill>
                <a:latin typeface="Segoe UI"/>
              </a:rPr>
              <a:t>configuration, never the physics</a:t>
            </a:r>
            <a:r>
              <a:rPr sz="1650" b="0">
                <a:solidFill>
                  <a:srgbClr val="ECE3D6"/>
                </a:solidFill>
                <a:latin typeface="Segoe UI"/>
              </a:rPr>
              <a:t> → always accurate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A </a:t>
            </a:r>
            <a:r>
              <a:rPr sz="1650" b="1">
                <a:solidFill>
                  <a:srgbClr val="FFFFFF"/>
                </a:solidFill>
                <a:latin typeface="Segoe UI"/>
              </a:rPr>
              <a:t>curriculum-specific simulation library</a:t>
            </a:r>
            <a:r>
              <a:rPr sz="1650" b="0">
                <a:solidFill>
                  <a:srgbClr val="ECE3D6"/>
                </a:solidFill>
                <a:latin typeface="Segoe UI"/>
              </a:rPr>
              <a:t> — our core IP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A proprietary </a:t>
            </a:r>
            <a:r>
              <a:rPr sz="1650" b="1">
                <a:solidFill>
                  <a:srgbClr val="FFFFFF"/>
                </a:solidFill>
                <a:latin typeface="Segoe UI"/>
              </a:rPr>
              <a:t>data flywheel</a:t>
            </a:r>
            <a:r>
              <a:rPr sz="1650" b="0">
                <a:solidFill>
                  <a:srgbClr val="ECE3D6"/>
                </a:solidFill>
                <a:latin typeface="Segoe UI"/>
              </a:rPr>
              <a:t>: every student doubt improves the next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C7C69"/>
                </a:solidFill>
                <a:latin typeface="Segoe UI"/>
              </a:rPr>
              <a:t>Defensible technology + knowledge — not a feature a competitor can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73163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PRODUCT · B2C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4ECE1"/>
                </a:solidFill>
                <a:latin typeface="Georgia"/>
              </a:rPr>
              <a:t>Direct-to-student subscription.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Students </a:t>
            </a:r>
            <a:r>
              <a:rPr sz="1650" b="1">
                <a:solidFill>
                  <a:srgbClr val="FFFFFF"/>
                </a:solidFill>
                <a:latin typeface="Segoe UI"/>
              </a:rPr>
              <a:t>subscribe directly</a:t>
            </a:r>
            <a:r>
              <a:rPr sz="1650" b="0">
                <a:solidFill>
                  <a:srgbClr val="ECE3D6"/>
                </a:solidFill>
                <a:latin typeface="Segoe UI"/>
              </a:rPr>
              <a:t> — web app + AI voice professor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Tiered: simulations → AI doubt-solving → voice professor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1">
                <a:solidFill>
                  <a:srgbClr val="FFFFFF"/>
                </a:solidFill>
                <a:latin typeface="Segoe UI"/>
              </a:rPr>
              <a:t>Concept clarity first</a:t>
            </a:r>
            <a:r>
              <a:rPr sz="1650" b="0">
                <a:solidFill>
                  <a:srgbClr val="ECE3D6"/>
                </a:solidFill>
                <a:latin typeface="Segoe UI"/>
              </a:rPr>
              <a:t>; exam depth grows with the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C7C69"/>
                </a:solidFill>
                <a:latin typeface="Segoe UI"/>
              </a:rPr>
              <a:t>No dependence on schools or institutions.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127796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MARKET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4ECE1"/>
                </a:solidFill>
                <a:latin typeface="Georgia"/>
              </a:rPr>
              <a:t>A focused entry into a global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424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Global STEM learning — underserved by </a:t>
            </a:r>
            <a:r>
              <a:rPr sz="1650" b="1">
                <a:solidFill>
                  <a:srgbClr val="FFFFFF"/>
                </a:solidFill>
                <a:latin typeface="Segoe UI"/>
              </a:rPr>
              <a:t>simulation-first</a:t>
            </a:r>
            <a:r>
              <a:rPr sz="1650" b="0">
                <a:solidFill>
                  <a:srgbClr val="ECE3D6"/>
                </a:solidFill>
                <a:latin typeface="Segoe UI"/>
              </a:rPr>
              <a:t> products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Build on the </a:t>
            </a:r>
            <a:r>
              <a:rPr sz="1650" b="1">
                <a:solidFill>
                  <a:srgbClr val="FFFFFF"/>
                </a:solidFill>
                <a:latin typeface="Segoe UI"/>
              </a:rPr>
              <a:t>Indian curriculum</a:t>
            </a:r>
            <a:r>
              <a:rPr sz="1650" b="0">
                <a:solidFill>
                  <a:srgbClr val="ECE3D6"/>
                </a:solidFill>
                <a:latin typeface="Segoe UI"/>
              </a:rPr>
              <a:t> (deepest → ports to AP / A-level / IB)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First revenue: </a:t>
            </a:r>
            <a:r>
              <a:rPr sz="1650" b="1">
                <a:solidFill>
                  <a:srgbClr val="FFFFFF"/>
                </a:solidFill>
                <a:latin typeface="Segoe UI"/>
              </a:rPr>
              <a:t>UAE diaspora</a:t>
            </a:r>
            <a:r>
              <a:rPr sz="1650" b="0">
                <a:solidFill>
                  <a:srgbClr val="ECE3D6"/>
                </a:solidFill>
                <a:latin typeface="Segoe UI"/>
              </a:rPr>
              <a:t> — same curriculum, high willingness to pay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Year 2: India scale + Western curricula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482429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TRACTION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4ECE1"/>
                </a:solidFill>
                <a:latin typeface="Georgia"/>
              </a:rPr>
              <a:t>Already building. Already validated by a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1">
                <a:solidFill>
                  <a:srgbClr val="FFFFFF"/>
                </a:solidFill>
                <a:latin typeface="Segoe UI"/>
              </a:rPr>
              <a:t>Gold-standard simulations built</a:t>
            </a:r>
            <a:r>
              <a:rPr sz="1650" b="0">
                <a:solidFill>
                  <a:srgbClr val="ECE3D6"/>
                </a:solidFill>
                <a:latin typeface="Segoe UI"/>
              </a:rPr>
              <a:t> — magnetism &amp; electrostatics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Working </a:t>
            </a:r>
            <a:r>
              <a:rPr sz="1650" b="1">
                <a:solidFill>
                  <a:srgbClr val="FFFFFF"/>
                </a:solidFill>
                <a:latin typeface="Segoe UI"/>
              </a:rPr>
              <a:t>AI authoring pipeline</a:t>
            </a:r>
            <a:r>
              <a:rPr sz="1650" b="0">
                <a:solidFill>
                  <a:srgbClr val="ECE3D6"/>
                </a:solidFill>
                <a:latin typeface="Segoe UI"/>
              </a:rPr>
              <a:t> + AI voice-professor prototype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A </a:t>
            </a:r>
            <a:r>
              <a:rPr sz="1650" b="1">
                <a:solidFill>
                  <a:srgbClr val="FFFFFF"/>
                </a:solidFill>
                <a:latin typeface="Segoe UI"/>
              </a:rPr>
              <a:t>teacher co-development partner</a:t>
            </a:r>
            <a:r>
              <a:rPr sz="1650" b="0">
                <a:solidFill>
                  <a:srgbClr val="ECE3D6"/>
                </a:solidFill>
                <a:latin typeface="Segoe UI"/>
              </a:rPr>
              <a:t> reviewing real lessons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>
                <a:solidFill>
                  <a:srgbClr val="ECE3D6"/>
                </a:solidFill>
                <a:latin typeface="Segoe UI"/>
              </a:rPr>
              <a:t>Built solo, from Germany, with AI-assisted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2331720" cy="420624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Ins="109728" bIns="27432" rtlCol="0" anchor="ctr"/>
          <a:lstStyle/>
          <a:p>
            <a:pPr algn="ctr"/>
            <a:r>
              <a:rPr sz="1050" b="1" spc="180">
                <a:solidFill>
                  <a:srgbClr val="E07A42"/>
                </a:solidFill>
                <a:latin typeface="Segoe UI"/>
              </a:rPr>
              <a:t>✓  TEACHER-VERIFIED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C7C69"/>
                </a:solidFill>
                <a:latin typeface="Segoe UI"/>
              </a:rPr>
              <a:t>Pre-revenue today — a teacher-supervised student pilot is the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837062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4ECE1"/>
                </a:solidFill>
                <a:latin typeface="Georgia"/>
              </a:rPr>
              <a:t>A great teacher for every student — always on, in every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424160" cy="2388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1" dirty="0">
                <a:solidFill>
                  <a:srgbClr val="FFFFFF"/>
                </a:solidFill>
                <a:latin typeface="Segoe UI"/>
              </a:rPr>
              <a:t>Every concept in science</a:t>
            </a:r>
            <a:r>
              <a:rPr sz="1650" b="0" dirty="0">
                <a:solidFill>
                  <a:srgbClr val="ECE3D6"/>
                </a:solidFill>
                <a:latin typeface="Segoe UI"/>
              </a:rPr>
              <a:t> becomes an interactive, physics-accurate simulation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 dirty="0">
                <a:solidFill>
                  <a:srgbClr val="ECE3D6"/>
                </a:solidFill>
                <a:latin typeface="Segoe UI"/>
              </a:rPr>
              <a:t>An </a:t>
            </a:r>
            <a:r>
              <a:rPr sz="1650" b="1" dirty="0">
                <a:solidFill>
                  <a:srgbClr val="FFFFFF"/>
                </a:solidFill>
                <a:latin typeface="Segoe UI"/>
              </a:rPr>
              <a:t>AI professor</a:t>
            </a:r>
            <a:r>
              <a:rPr sz="1650" b="0" dirty="0">
                <a:solidFill>
                  <a:srgbClr val="ECE3D6"/>
                </a:solidFill>
                <a:latin typeface="Segoe UI"/>
              </a:rPr>
              <a:t> that teaches, adapts, and answers by voice — </a:t>
            </a:r>
            <a:r>
              <a:rPr sz="1650" b="1" dirty="0">
                <a:solidFill>
                  <a:srgbClr val="FFFFFF"/>
                </a:solidFill>
                <a:latin typeface="Segoe UI"/>
              </a:rPr>
              <a:t>24×7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 dirty="0">
                <a:solidFill>
                  <a:srgbClr val="ECE3D6"/>
                </a:solidFill>
                <a:latin typeface="Segoe UI"/>
              </a:rPr>
              <a:t>Physics first → </a:t>
            </a:r>
            <a:r>
              <a:rPr sz="1650" b="1" dirty="0">
                <a:solidFill>
                  <a:srgbClr val="FFFFFF"/>
                </a:solidFill>
                <a:latin typeface="Segoe UI"/>
              </a:rPr>
              <a:t>chemistry, mathematics</a:t>
            </a:r>
            <a:endParaRPr sz="1650" b="0" dirty="0">
              <a:solidFill>
                <a:srgbClr val="ECE3D6"/>
              </a:solidFill>
              <a:latin typeface="Segoe UI"/>
            </a:endParaRP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E07A42"/>
                </a:solidFill>
                <a:latin typeface="Segoe UI"/>
              </a:rPr>
              <a:t>◆   </a:t>
            </a:r>
            <a:r>
              <a:rPr sz="1650" b="0" dirty="0">
                <a:solidFill>
                  <a:srgbClr val="ECE3D6"/>
                </a:solidFill>
                <a:latin typeface="Segoe UI"/>
              </a:rPr>
              <a:t>Indian curriculum → </a:t>
            </a:r>
            <a:r>
              <a:rPr sz="1650" b="1" dirty="0">
                <a:solidFill>
                  <a:srgbClr val="FFFFFF"/>
                </a:solidFill>
                <a:latin typeface="Segoe UI"/>
              </a:rPr>
              <a:t>AP · A-level · IB</a:t>
            </a:r>
            <a:r>
              <a:rPr sz="1650" b="0" dirty="0">
                <a:solidFill>
                  <a:srgbClr val="ECE3D6"/>
                </a:solidFill>
                <a:latin typeface="Segoe UI"/>
              </a:rPr>
              <a:t> → students everywhere</a:t>
            </a:r>
            <a:endParaRPr lang="en-US" sz="1650" b="0" dirty="0">
              <a:solidFill>
                <a:srgbClr val="ECE3D6"/>
              </a:solidFill>
              <a:latin typeface="Segoe UI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sz="1350" dirty="0">
                <a:solidFill>
                  <a:srgbClr val="E07A42"/>
                </a:solidFill>
                <a:latin typeface="Segoe UI"/>
              </a:rPr>
              <a:t>◆   </a:t>
            </a:r>
            <a:r>
              <a:rPr lang="en-US" sz="1650" dirty="0">
                <a:solidFill>
                  <a:srgbClr val="ECE3D6"/>
                </a:solidFill>
                <a:latin typeface="Segoe UI"/>
              </a:rPr>
              <a:t>Eventually create a personalize teacher.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endParaRPr sz="1650" b="0" dirty="0">
              <a:solidFill>
                <a:srgbClr val="ECE3D6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4297680" cy="457200"/>
          </a:xfrm>
          <a:prstGeom prst="roundRect">
            <a:avLst/>
          </a:prstGeom>
          <a:noFill/>
          <a:ln w="15875">
            <a:solidFill>
              <a:srgbClr val="E07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Ins="109728" bIns="27432" rtlCol="0" anchor="ctr"/>
          <a:lstStyle/>
          <a:p>
            <a:pPr algn="ctr"/>
            <a:r>
              <a:rPr sz="1100" b="1" spc="180">
                <a:solidFill>
                  <a:srgbClr val="E07A42"/>
                </a:solidFill>
                <a:latin typeface="Segoe UI"/>
              </a:rPr>
              <a:t>ALWAYS ON · ACTIVE · PROACTIVE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692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C7C69"/>
                </a:solidFill>
                <a:latin typeface="Segoe UI"/>
              </a:rPr>
              <a:t>From “who can afford a great teacher” to “every student has one.”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0640"/>
          </a:xfrm>
          <a:prstGeom prst="rect">
            <a:avLst/>
          </a:prstGeom>
          <a:solidFill>
            <a:srgbClr val="E0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07A42"/>
                </a:solidFill>
                <a:latin typeface="Georgia"/>
              </a:rPr>
              <a:t>Physics</a:t>
            </a:r>
            <a:r>
              <a:rPr sz="1250" b="1">
                <a:solidFill>
                  <a:srgbClr val="F4ECE1"/>
                </a:solidFill>
                <a:latin typeface="Georgia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3825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C7C69"/>
                </a:solidFill>
                <a:latin typeface="Segoe UI"/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80">
                <a:solidFill>
                  <a:srgbClr val="E07A42"/>
                </a:solidFill>
                <a:latin typeface="Segoe UI"/>
              </a:rPr>
              <a:t>EXIST ·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4ECE1"/>
                </a:solidFill>
                <a:latin typeface="Georgia"/>
              </a:rPr>
              <a:t>What the stipend makes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A63C"/>
                </a:solidFill>
                <a:latin typeface="Segoe UI"/>
              </a:rPr>
              <a:t>THE 12-MONTH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AA63C"/>
                </a:solidFill>
                <a:latin typeface="Segoe UI"/>
              </a:rPr>
              <a:t>THE 12-MONTH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Build the concept library to depth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Run a teacher + student pilot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Reach first paying users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Build a German-based deep-tech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80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AA63C"/>
                </a:solidFill>
                <a:latin typeface="Segoe UI"/>
              </a:rPr>
              <a:t>MY QUESTIONS FOR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10128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Eligibility (DIU graduate, 2026)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Team requirement — do I need co-founders?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Professor / mentor — can you help me find one?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Visa pathway (§20 → §21)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0">
                <a:solidFill>
                  <a:srgbClr val="EAA63C"/>
                </a:solidFill>
                <a:latin typeface="Segoe UI"/>
              </a:rPr>
              <a:t>◆   </a:t>
            </a:r>
            <a:r>
              <a:rPr sz="1500" b="0">
                <a:solidFill>
                  <a:srgbClr val="ECE3D6"/>
                </a:solidFill>
                <a:latin typeface="Segoe UI"/>
              </a:rPr>
              <a:t>Next steps &amp;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931</Words>
  <Application>Microsoft Office PowerPoint</Application>
  <PresentationFormat>Widescreen</PresentationFormat>
  <Paragraphs>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Nagapuri</cp:lastModifiedBy>
  <cp:revision>2</cp:revision>
  <dcterms:created xsi:type="dcterms:W3CDTF">2013-01-27T09:14:16Z</dcterms:created>
  <dcterms:modified xsi:type="dcterms:W3CDTF">2026-06-22T23:56:23Z</dcterms:modified>
  <cp:category/>
</cp:coreProperties>
</file>